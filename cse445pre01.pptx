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mo" panose="020B0604020202020204" charset="0"/>
      <p:regular r:id="rId18"/>
    </p:embeddedFont>
    <p:embeddedFont>
      <p:font typeface="Arimo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9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A2D17-D77A-4985-8041-5CA5D26EC02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10140-B9A1-407F-8106-CBA47CD8C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0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910E-D512-478F-9698-6F4288D83233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0065-755F-48CB-B4C1-0ECDAC35E1A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12DD-B4A8-44AD-8093-7E69F7DBC224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7C021-61DB-40CA-B1EA-A3F0C03F6AB2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50508-80CB-4F96-9F51-D9365FA5BBE7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885E-BA02-43A5-9E33-F4C7279AC014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9BF9-CCB4-402C-BF3F-A0608F7A7A4E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65B6-6533-4F5F-80BB-C08A0472F218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3571-5EF5-4E4E-BA7B-906CB8D24935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161-E578-4C1A-B823-B4FB9B4C8C2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B72E3-C278-4DD0-9D53-74F288D7F5B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DB632-10C6-4923-86BA-505C8F990308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59330" y="743988"/>
            <a:ext cx="6599187" cy="8799014"/>
            <a:chOff x="0" y="0"/>
            <a:chExt cx="8798916" cy="1173201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98941" cy="11732006"/>
            </a:xfrm>
            <a:custGeom>
              <a:avLst/>
              <a:gdLst/>
              <a:ahLst/>
              <a:cxnLst/>
              <a:rect l="l" t="t" r="r" b="b"/>
              <a:pathLst>
                <a:path w="8798941" h="11732006">
                  <a:moveTo>
                    <a:pt x="0" y="0"/>
                  </a:moveTo>
                  <a:lnTo>
                    <a:pt x="8798941" y="0"/>
                  </a:lnTo>
                  <a:lnTo>
                    <a:pt x="8798941" y="11732006"/>
                  </a:lnTo>
                  <a:lnTo>
                    <a:pt x="0" y="11732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r="-1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07589" y="1054598"/>
            <a:ext cx="9014822" cy="133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Stop Sign Detection Using HOG Features and a Linear SVM Classifier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7589" y="2630091"/>
            <a:ext cx="901482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Course:</a:t>
            </a: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CSE445, Section 6  |  </a:t>
            </a: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Group:</a:t>
            </a: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08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2827" y="3229811"/>
            <a:ext cx="9024347" cy="1347940"/>
            <a:chOff x="0" y="0"/>
            <a:chExt cx="12032463" cy="1797253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12019788" cy="1784477"/>
            </a:xfrm>
            <a:custGeom>
              <a:avLst/>
              <a:gdLst/>
              <a:ahLst/>
              <a:cxnLst/>
              <a:rect l="l" t="t" r="r" b="b"/>
              <a:pathLst>
                <a:path w="12019788" h="1784477">
                  <a:moveTo>
                    <a:pt x="0" y="144907"/>
                  </a:moveTo>
                  <a:cubicBezTo>
                    <a:pt x="0" y="64897"/>
                    <a:pt x="65278" y="0"/>
                    <a:pt x="145796" y="0"/>
                  </a:cubicBezTo>
                  <a:lnTo>
                    <a:pt x="11873992" y="0"/>
                  </a:lnTo>
                  <a:cubicBezTo>
                    <a:pt x="11954511" y="0"/>
                    <a:pt x="12019788" y="64897"/>
                    <a:pt x="12019788" y="144907"/>
                  </a:cubicBezTo>
                  <a:lnTo>
                    <a:pt x="12019788" y="1639570"/>
                  </a:lnTo>
                  <a:cubicBezTo>
                    <a:pt x="12019788" y="1719580"/>
                    <a:pt x="11954511" y="1784477"/>
                    <a:pt x="11873992" y="1784477"/>
                  </a:cubicBezTo>
                  <a:lnTo>
                    <a:pt x="145796" y="1784477"/>
                  </a:lnTo>
                  <a:cubicBezTo>
                    <a:pt x="65278" y="1784604"/>
                    <a:pt x="0" y="1719707"/>
                    <a:pt x="0" y="163957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2032488" cy="1797177"/>
            </a:xfrm>
            <a:custGeom>
              <a:avLst/>
              <a:gdLst/>
              <a:ahLst/>
              <a:cxnLst/>
              <a:rect l="l" t="t" r="r" b="b"/>
              <a:pathLst>
                <a:path w="12032488" h="1797177">
                  <a:moveTo>
                    <a:pt x="0" y="151257"/>
                  </a:moveTo>
                  <a:cubicBezTo>
                    <a:pt x="0" y="67691"/>
                    <a:pt x="68199" y="0"/>
                    <a:pt x="152146" y="0"/>
                  </a:cubicBezTo>
                  <a:lnTo>
                    <a:pt x="11880342" y="0"/>
                  </a:lnTo>
                  <a:lnTo>
                    <a:pt x="11880342" y="6350"/>
                  </a:lnTo>
                  <a:lnTo>
                    <a:pt x="11880342" y="0"/>
                  </a:lnTo>
                  <a:cubicBezTo>
                    <a:pt x="11964289" y="0"/>
                    <a:pt x="12032488" y="67691"/>
                    <a:pt x="12032488" y="151257"/>
                  </a:cubicBezTo>
                  <a:lnTo>
                    <a:pt x="12026138" y="151257"/>
                  </a:lnTo>
                  <a:lnTo>
                    <a:pt x="12032488" y="151257"/>
                  </a:lnTo>
                  <a:lnTo>
                    <a:pt x="12032488" y="1645920"/>
                  </a:lnTo>
                  <a:lnTo>
                    <a:pt x="12026138" y="1645920"/>
                  </a:lnTo>
                  <a:lnTo>
                    <a:pt x="12032488" y="1645920"/>
                  </a:lnTo>
                  <a:cubicBezTo>
                    <a:pt x="12032488" y="1729486"/>
                    <a:pt x="11964289" y="1797177"/>
                    <a:pt x="11880342" y="1797177"/>
                  </a:cubicBezTo>
                  <a:lnTo>
                    <a:pt x="11880342" y="1790827"/>
                  </a:lnTo>
                  <a:lnTo>
                    <a:pt x="11880342" y="1797177"/>
                  </a:lnTo>
                  <a:lnTo>
                    <a:pt x="152146" y="1797177"/>
                  </a:lnTo>
                  <a:lnTo>
                    <a:pt x="152146" y="1790827"/>
                  </a:lnTo>
                  <a:lnTo>
                    <a:pt x="152146" y="1797177"/>
                  </a:lnTo>
                  <a:cubicBezTo>
                    <a:pt x="68199" y="1797304"/>
                    <a:pt x="0" y="1729613"/>
                    <a:pt x="0" y="1645920"/>
                  </a:cubicBezTo>
                  <a:lnTo>
                    <a:pt x="0" y="151257"/>
                  </a:lnTo>
                  <a:lnTo>
                    <a:pt x="6350" y="151257"/>
                  </a:lnTo>
                  <a:lnTo>
                    <a:pt x="0" y="151257"/>
                  </a:lnTo>
                  <a:moveTo>
                    <a:pt x="12700" y="151257"/>
                  </a:moveTo>
                  <a:lnTo>
                    <a:pt x="12700" y="1645920"/>
                  </a:lnTo>
                  <a:lnTo>
                    <a:pt x="6350" y="1645920"/>
                  </a:lnTo>
                  <a:lnTo>
                    <a:pt x="12700" y="1645920"/>
                  </a:lnTo>
                  <a:cubicBezTo>
                    <a:pt x="12700" y="1722374"/>
                    <a:pt x="75057" y="1784477"/>
                    <a:pt x="152146" y="1784477"/>
                  </a:cubicBezTo>
                  <a:lnTo>
                    <a:pt x="11880342" y="1784477"/>
                  </a:lnTo>
                  <a:cubicBezTo>
                    <a:pt x="11957431" y="1784477"/>
                    <a:pt x="12019788" y="1722374"/>
                    <a:pt x="12019788" y="1645920"/>
                  </a:cubicBezTo>
                  <a:lnTo>
                    <a:pt x="12019788" y="151257"/>
                  </a:lnTo>
                  <a:cubicBezTo>
                    <a:pt x="12019788" y="74803"/>
                    <a:pt x="11957304" y="12700"/>
                    <a:pt x="11880342" y="12700"/>
                  </a:cubicBezTo>
                  <a:lnTo>
                    <a:pt x="152146" y="12700"/>
                  </a:lnTo>
                  <a:lnTo>
                    <a:pt x="152146" y="6350"/>
                  </a:lnTo>
                  <a:lnTo>
                    <a:pt x="152146" y="12700"/>
                  </a:lnTo>
                  <a:cubicBezTo>
                    <a:pt x="75057" y="12700"/>
                    <a:pt x="12700" y="74803"/>
                    <a:pt x="12700" y="15125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475784" y="3441210"/>
            <a:ext cx="5534616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5784" y="3918641"/>
            <a:ext cx="1877015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2827" y="4786017"/>
            <a:ext cx="9024347" cy="1347940"/>
            <a:chOff x="0" y="0"/>
            <a:chExt cx="12032463" cy="179725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12019788" cy="1784477"/>
            </a:xfrm>
            <a:custGeom>
              <a:avLst/>
              <a:gdLst/>
              <a:ahLst/>
              <a:cxnLst/>
              <a:rect l="l" t="t" r="r" b="b"/>
              <a:pathLst>
                <a:path w="12019788" h="1784477">
                  <a:moveTo>
                    <a:pt x="0" y="144907"/>
                  </a:moveTo>
                  <a:cubicBezTo>
                    <a:pt x="0" y="64897"/>
                    <a:pt x="65278" y="0"/>
                    <a:pt x="145796" y="0"/>
                  </a:cubicBezTo>
                  <a:lnTo>
                    <a:pt x="11873992" y="0"/>
                  </a:lnTo>
                  <a:cubicBezTo>
                    <a:pt x="11954511" y="0"/>
                    <a:pt x="12019788" y="64897"/>
                    <a:pt x="12019788" y="144907"/>
                  </a:cubicBezTo>
                  <a:lnTo>
                    <a:pt x="12019788" y="1639570"/>
                  </a:lnTo>
                  <a:cubicBezTo>
                    <a:pt x="12019788" y="1719580"/>
                    <a:pt x="11954511" y="1784477"/>
                    <a:pt x="11873992" y="1784477"/>
                  </a:cubicBezTo>
                  <a:lnTo>
                    <a:pt x="145796" y="1784477"/>
                  </a:lnTo>
                  <a:cubicBezTo>
                    <a:pt x="65278" y="1784604"/>
                    <a:pt x="0" y="1719707"/>
                    <a:pt x="0" y="163957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2032488" cy="1797177"/>
            </a:xfrm>
            <a:custGeom>
              <a:avLst/>
              <a:gdLst/>
              <a:ahLst/>
              <a:cxnLst/>
              <a:rect l="l" t="t" r="r" b="b"/>
              <a:pathLst>
                <a:path w="12032488" h="1797177">
                  <a:moveTo>
                    <a:pt x="0" y="151257"/>
                  </a:moveTo>
                  <a:cubicBezTo>
                    <a:pt x="0" y="67691"/>
                    <a:pt x="68199" y="0"/>
                    <a:pt x="152146" y="0"/>
                  </a:cubicBezTo>
                  <a:lnTo>
                    <a:pt x="11880342" y="0"/>
                  </a:lnTo>
                  <a:lnTo>
                    <a:pt x="11880342" y="6350"/>
                  </a:lnTo>
                  <a:lnTo>
                    <a:pt x="11880342" y="0"/>
                  </a:lnTo>
                  <a:cubicBezTo>
                    <a:pt x="11964289" y="0"/>
                    <a:pt x="12032488" y="67691"/>
                    <a:pt x="12032488" y="151257"/>
                  </a:cubicBezTo>
                  <a:lnTo>
                    <a:pt x="12026138" y="151257"/>
                  </a:lnTo>
                  <a:lnTo>
                    <a:pt x="12032488" y="151257"/>
                  </a:lnTo>
                  <a:lnTo>
                    <a:pt x="12032488" y="1645920"/>
                  </a:lnTo>
                  <a:lnTo>
                    <a:pt x="12026138" y="1645920"/>
                  </a:lnTo>
                  <a:lnTo>
                    <a:pt x="12032488" y="1645920"/>
                  </a:lnTo>
                  <a:cubicBezTo>
                    <a:pt x="12032488" y="1729486"/>
                    <a:pt x="11964289" y="1797177"/>
                    <a:pt x="11880342" y="1797177"/>
                  </a:cubicBezTo>
                  <a:lnTo>
                    <a:pt x="11880342" y="1790827"/>
                  </a:lnTo>
                  <a:lnTo>
                    <a:pt x="11880342" y="1797177"/>
                  </a:lnTo>
                  <a:lnTo>
                    <a:pt x="152146" y="1797177"/>
                  </a:lnTo>
                  <a:lnTo>
                    <a:pt x="152146" y="1790827"/>
                  </a:lnTo>
                  <a:lnTo>
                    <a:pt x="152146" y="1797177"/>
                  </a:lnTo>
                  <a:cubicBezTo>
                    <a:pt x="68199" y="1797304"/>
                    <a:pt x="0" y="1729613"/>
                    <a:pt x="0" y="1645920"/>
                  </a:cubicBezTo>
                  <a:lnTo>
                    <a:pt x="0" y="151257"/>
                  </a:lnTo>
                  <a:lnTo>
                    <a:pt x="6350" y="151257"/>
                  </a:lnTo>
                  <a:lnTo>
                    <a:pt x="0" y="151257"/>
                  </a:lnTo>
                  <a:moveTo>
                    <a:pt x="12700" y="151257"/>
                  </a:moveTo>
                  <a:lnTo>
                    <a:pt x="12700" y="1645920"/>
                  </a:lnTo>
                  <a:lnTo>
                    <a:pt x="6350" y="1645920"/>
                  </a:lnTo>
                  <a:lnTo>
                    <a:pt x="12700" y="1645920"/>
                  </a:lnTo>
                  <a:cubicBezTo>
                    <a:pt x="12700" y="1722374"/>
                    <a:pt x="75057" y="1784477"/>
                    <a:pt x="152146" y="1784477"/>
                  </a:cubicBezTo>
                  <a:lnTo>
                    <a:pt x="11880342" y="1784477"/>
                  </a:lnTo>
                  <a:cubicBezTo>
                    <a:pt x="11957431" y="1784477"/>
                    <a:pt x="12019788" y="1722374"/>
                    <a:pt x="12019788" y="1645920"/>
                  </a:cubicBezTo>
                  <a:lnTo>
                    <a:pt x="12019788" y="151257"/>
                  </a:lnTo>
                  <a:cubicBezTo>
                    <a:pt x="12019788" y="74803"/>
                    <a:pt x="11957304" y="12700"/>
                    <a:pt x="11880342" y="12700"/>
                  </a:cubicBezTo>
                  <a:lnTo>
                    <a:pt x="152146" y="12700"/>
                  </a:lnTo>
                  <a:lnTo>
                    <a:pt x="152146" y="6350"/>
                  </a:lnTo>
                  <a:lnTo>
                    <a:pt x="152146" y="12700"/>
                  </a:lnTo>
                  <a:cubicBezTo>
                    <a:pt x="75057" y="12700"/>
                    <a:pt x="12700" y="74803"/>
                    <a:pt x="12700" y="15125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475784" y="5039916"/>
            <a:ext cx="2587828" cy="34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Chandrima Saha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5784" y="5451129"/>
            <a:ext cx="847844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2212561042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2827" y="6318494"/>
            <a:ext cx="9024347" cy="1347940"/>
            <a:chOff x="0" y="0"/>
            <a:chExt cx="12032463" cy="1797253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12019788" cy="1784477"/>
            </a:xfrm>
            <a:custGeom>
              <a:avLst/>
              <a:gdLst/>
              <a:ahLst/>
              <a:cxnLst/>
              <a:rect l="l" t="t" r="r" b="b"/>
              <a:pathLst>
                <a:path w="12019788" h="1784477">
                  <a:moveTo>
                    <a:pt x="0" y="144907"/>
                  </a:moveTo>
                  <a:cubicBezTo>
                    <a:pt x="0" y="64897"/>
                    <a:pt x="65278" y="0"/>
                    <a:pt x="145796" y="0"/>
                  </a:cubicBezTo>
                  <a:lnTo>
                    <a:pt x="11873992" y="0"/>
                  </a:lnTo>
                  <a:cubicBezTo>
                    <a:pt x="11954511" y="0"/>
                    <a:pt x="12019788" y="64897"/>
                    <a:pt x="12019788" y="144907"/>
                  </a:cubicBezTo>
                  <a:lnTo>
                    <a:pt x="12019788" y="1639570"/>
                  </a:lnTo>
                  <a:cubicBezTo>
                    <a:pt x="12019788" y="1719580"/>
                    <a:pt x="11954511" y="1784477"/>
                    <a:pt x="11873992" y="1784477"/>
                  </a:cubicBezTo>
                  <a:lnTo>
                    <a:pt x="145796" y="1784477"/>
                  </a:lnTo>
                  <a:cubicBezTo>
                    <a:pt x="65278" y="1784604"/>
                    <a:pt x="0" y="1719707"/>
                    <a:pt x="0" y="163957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2032488" cy="1797177"/>
            </a:xfrm>
            <a:custGeom>
              <a:avLst/>
              <a:gdLst/>
              <a:ahLst/>
              <a:cxnLst/>
              <a:rect l="l" t="t" r="r" b="b"/>
              <a:pathLst>
                <a:path w="12032488" h="1797177">
                  <a:moveTo>
                    <a:pt x="0" y="151257"/>
                  </a:moveTo>
                  <a:cubicBezTo>
                    <a:pt x="0" y="67691"/>
                    <a:pt x="68199" y="0"/>
                    <a:pt x="152146" y="0"/>
                  </a:cubicBezTo>
                  <a:lnTo>
                    <a:pt x="11880342" y="0"/>
                  </a:lnTo>
                  <a:lnTo>
                    <a:pt x="11880342" y="6350"/>
                  </a:lnTo>
                  <a:lnTo>
                    <a:pt x="11880342" y="0"/>
                  </a:lnTo>
                  <a:cubicBezTo>
                    <a:pt x="11964289" y="0"/>
                    <a:pt x="12032488" y="67691"/>
                    <a:pt x="12032488" y="151257"/>
                  </a:cubicBezTo>
                  <a:lnTo>
                    <a:pt x="12026138" y="151257"/>
                  </a:lnTo>
                  <a:lnTo>
                    <a:pt x="12032488" y="151257"/>
                  </a:lnTo>
                  <a:lnTo>
                    <a:pt x="12032488" y="1645920"/>
                  </a:lnTo>
                  <a:lnTo>
                    <a:pt x="12026138" y="1645920"/>
                  </a:lnTo>
                  <a:lnTo>
                    <a:pt x="12032488" y="1645920"/>
                  </a:lnTo>
                  <a:cubicBezTo>
                    <a:pt x="12032488" y="1729486"/>
                    <a:pt x="11964289" y="1797177"/>
                    <a:pt x="11880342" y="1797177"/>
                  </a:cubicBezTo>
                  <a:lnTo>
                    <a:pt x="11880342" y="1790827"/>
                  </a:lnTo>
                  <a:lnTo>
                    <a:pt x="11880342" y="1797177"/>
                  </a:lnTo>
                  <a:lnTo>
                    <a:pt x="152146" y="1797177"/>
                  </a:lnTo>
                  <a:lnTo>
                    <a:pt x="152146" y="1790827"/>
                  </a:lnTo>
                  <a:lnTo>
                    <a:pt x="152146" y="1797177"/>
                  </a:lnTo>
                  <a:cubicBezTo>
                    <a:pt x="68199" y="1797304"/>
                    <a:pt x="0" y="1729613"/>
                    <a:pt x="0" y="1645920"/>
                  </a:cubicBezTo>
                  <a:lnTo>
                    <a:pt x="0" y="151257"/>
                  </a:lnTo>
                  <a:lnTo>
                    <a:pt x="6350" y="151257"/>
                  </a:lnTo>
                  <a:lnTo>
                    <a:pt x="0" y="151257"/>
                  </a:lnTo>
                  <a:moveTo>
                    <a:pt x="12700" y="151257"/>
                  </a:moveTo>
                  <a:lnTo>
                    <a:pt x="12700" y="1645920"/>
                  </a:lnTo>
                  <a:lnTo>
                    <a:pt x="6350" y="1645920"/>
                  </a:lnTo>
                  <a:lnTo>
                    <a:pt x="12700" y="1645920"/>
                  </a:lnTo>
                  <a:cubicBezTo>
                    <a:pt x="12700" y="1722374"/>
                    <a:pt x="75057" y="1784477"/>
                    <a:pt x="152146" y="1784477"/>
                  </a:cubicBezTo>
                  <a:lnTo>
                    <a:pt x="11880342" y="1784477"/>
                  </a:lnTo>
                  <a:cubicBezTo>
                    <a:pt x="11957431" y="1784477"/>
                    <a:pt x="12019788" y="1722374"/>
                    <a:pt x="12019788" y="1645920"/>
                  </a:cubicBezTo>
                  <a:lnTo>
                    <a:pt x="12019788" y="151257"/>
                  </a:lnTo>
                  <a:cubicBezTo>
                    <a:pt x="12019788" y="74803"/>
                    <a:pt x="11957304" y="12700"/>
                    <a:pt x="11880342" y="12700"/>
                  </a:cubicBezTo>
                  <a:lnTo>
                    <a:pt x="152146" y="12700"/>
                  </a:lnTo>
                  <a:lnTo>
                    <a:pt x="152146" y="6350"/>
                  </a:lnTo>
                  <a:lnTo>
                    <a:pt x="152146" y="12700"/>
                  </a:lnTo>
                  <a:cubicBezTo>
                    <a:pt x="75057" y="12700"/>
                    <a:pt x="12700" y="74803"/>
                    <a:pt x="12700" y="15125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475784" y="6572402"/>
            <a:ext cx="2587828" cy="34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Wafa Alam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5784" y="6983616"/>
            <a:ext cx="847844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2211707042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02827" y="7850981"/>
            <a:ext cx="9024347" cy="1347940"/>
            <a:chOff x="0" y="0"/>
            <a:chExt cx="12032463" cy="1797253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12019788" cy="1784477"/>
            </a:xfrm>
            <a:custGeom>
              <a:avLst/>
              <a:gdLst/>
              <a:ahLst/>
              <a:cxnLst/>
              <a:rect l="l" t="t" r="r" b="b"/>
              <a:pathLst>
                <a:path w="12019788" h="1784477">
                  <a:moveTo>
                    <a:pt x="0" y="144907"/>
                  </a:moveTo>
                  <a:cubicBezTo>
                    <a:pt x="0" y="64897"/>
                    <a:pt x="65278" y="0"/>
                    <a:pt x="145796" y="0"/>
                  </a:cubicBezTo>
                  <a:lnTo>
                    <a:pt x="11873992" y="0"/>
                  </a:lnTo>
                  <a:cubicBezTo>
                    <a:pt x="11954511" y="0"/>
                    <a:pt x="12019788" y="64897"/>
                    <a:pt x="12019788" y="144907"/>
                  </a:cubicBezTo>
                  <a:lnTo>
                    <a:pt x="12019788" y="1639570"/>
                  </a:lnTo>
                  <a:cubicBezTo>
                    <a:pt x="12019788" y="1719580"/>
                    <a:pt x="11954511" y="1784477"/>
                    <a:pt x="11873992" y="1784477"/>
                  </a:cubicBezTo>
                  <a:lnTo>
                    <a:pt x="145796" y="1784477"/>
                  </a:lnTo>
                  <a:cubicBezTo>
                    <a:pt x="65278" y="1784604"/>
                    <a:pt x="0" y="1719707"/>
                    <a:pt x="0" y="163957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2032488" cy="1797177"/>
            </a:xfrm>
            <a:custGeom>
              <a:avLst/>
              <a:gdLst/>
              <a:ahLst/>
              <a:cxnLst/>
              <a:rect l="l" t="t" r="r" b="b"/>
              <a:pathLst>
                <a:path w="12032488" h="1797177">
                  <a:moveTo>
                    <a:pt x="0" y="151257"/>
                  </a:moveTo>
                  <a:cubicBezTo>
                    <a:pt x="0" y="67691"/>
                    <a:pt x="68199" y="0"/>
                    <a:pt x="152146" y="0"/>
                  </a:cubicBezTo>
                  <a:lnTo>
                    <a:pt x="11880342" y="0"/>
                  </a:lnTo>
                  <a:lnTo>
                    <a:pt x="11880342" y="6350"/>
                  </a:lnTo>
                  <a:lnTo>
                    <a:pt x="11880342" y="0"/>
                  </a:lnTo>
                  <a:cubicBezTo>
                    <a:pt x="11964289" y="0"/>
                    <a:pt x="12032488" y="67691"/>
                    <a:pt x="12032488" y="151257"/>
                  </a:cubicBezTo>
                  <a:lnTo>
                    <a:pt x="12026138" y="151257"/>
                  </a:lnTo>
                  <a:lnTo>
                    <a:pt x="12032488" y="151257"/>
                  </a:lnTo>
                  <a:lnTo>
                    <a:pt x="12032488" y="1645920"/>
                  </a:lnTo>
                  <a:lnTo>
                    <a:pt x="12026138" y="1645920"/>
                  </a:lnTo>
                  <a:lnTo>
                    <a:pt x="12032488" y="1645920"/>
                  </a:lnTo>
                  <a:cubicBezTo>
                    <a:pt x="12032488" y="1729486"/>
                    <a:pt x="11964289" y="1797177"/>
                    <a:pt x="11880342" y="1797177"/>
                  </a:cubicBezTo>
                  <a:lnTo>
                    <a:pt x="11880342" y="1790827"/>
                  </a:lnTo>
                  <a:lnTo>
                    <a:pt x="11880342" y="1797177"/>
                  </a:lnTo>
                  <a:lnTo>
                    <a:pt x="152146" y="1797177"/>
                  </a:lnTo>
                  <a:lnTo>
                    <a:pt x="152146" y="1790827"/>
                  </a:lnTo>
                  <a:lnTo>
                    <a:pt x="152146" y="1797177"/>
                  </a:lnTo>
                  <a:cubicBezTo>
                    <a:pt x="68199" y="1797304"/>
                    <a:pt x="0" y="1729613"/>
                    <a:pt x="0" y="1645920"/>
                  </a:cubicBezTo>
                  <a:lnTo>
                    <a:pt x="0" y="151257"/>
                  </a:lnTo>
                  <a:lnTo>
                    <a:pt x="6350" y="151257"/>
                  </a:lnTo>
                  <a:lnTo>
                    <a:pt x="0" y="151257"/>
                  </a:lnTo>
                  <a:moveTo>
                    <a:pt x="12700" y="151257"/>
                  </a:moveTo>
                  <a:lnTo>
                    <a:pt x="12700" y="1645920"/>
                  </a:lnTo>
                  <a:lnTo>
                    <a:pt x="6350" y="1645920"/>
                  </a:lnTo>
                  <a:lnTo>
                    <a:pt x="12700" y="1645920"/>
                  </a:lnTo>
                  <a:cubicBezTo>
                    <a:pt x="12700" y="1722374"/>
                    <a:pt x="75057" y="1784477"/>
                    <a:pt x="152146" y="1784477"/>
                  </a:cubicBezTo>
                  <a:lnTo>
                    <a:pt x="11880342" y="1784477"/>
                  </a:lnTo>
                  <a:cubicBezTo>
                    <a:pt x="11957431" y="1784477"/>
                    <a:pt x="12019788" y="1722374"/>
                    <a:pt x="12019788" y="1645920"/>
                  </a:cubicBezTo>
                  <a:lnTo>
                    <a:pt x="12019788" y="151257"/>
                  </a:lnTo>
                  <a:cubicBezTo>
                    <a:pt x="12019788" y="74803"/>
                    <a:pt x="11957304" y="12700"/>
                    <a:pt x="11880342" y="12700"/>
                  </a:cubicBezTo>
                  <a:lnTo>
                    <a:pt x="152146" y="12700"/>
                  </a:lnTo>
                  <a:lnTo>
                    <a:pt x="152146" y="6350"/>
                  </a:lnTo>
                  <a:lnTo>
                    <a:pt x="152146" y="12700"/>
                  </a:lnTo>
                  <a:cubicBezTo>
                    <a:pt x="75057" y="12700"/>
                    <a:pt x="12700" y="74803"/>
                    <a:pt x="12700" y="15125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475784" y="8104880"/>
            <a:ext cx="2587828" cy="34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Lamia Amin Tisha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75784" y="8516093"/>
            <a:ext cx="847844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2231198642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214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42071" y="720928"/>
            <a:ext cx="6633867" cy="8845153"/>
            <a:chOff x="0" y="0"/>
            <a:chExt cx="8845156" cy="1179353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845169" cy="11793474"/>
            </a:xfrm>
            <a:custGeom>
              <a:avLst/>
              <a:gdLst/>
              <a:ahLst/>
              <a:cxnLst/>
              <a:rect l="l" t="t" r="r" b="b"/>
              <a:pathLst>
                <a:path w="8845169" h="11793474">
                  <a:moveTo>
                    <a:pt x="0" y="0"/>
                  </a:moveTo>
                  <a:lnTo>
                    <a:pt x="8845169" y="0"/>
                  </a:lnTo>
                  <a:lnTo>
                    <a:pt x="8845169" y="11793474"/>
                  </a:lnTo>
                  <a:lnTo>
                    <a:pt x="0" y="1179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07589" y="1193902"/>
            <a:ext cx="4485684" cy="59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About the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7589" y="1963636"/>
            <a:ext cx="9014822" cy="63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complete, end-to-end classical computer vision pipeline for detecting stop signs in still images. Built on four tightly coupled stages: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7589" y="2767308"/>
            <a:ext cx="1121416" cy="1345702"/>
            <a:chOff x="0" y="0"/>
            <a:chExt cx="1495222" cy="179426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495171" cy="1794256"/>
            </a:xfrm>
            <a:custGeom>
              <a:avLst/>
              <a:gdLst/>
              <a:ahLst/>
              <a:cxnLst/>
              <a:rect l="l" t="t" r="r" b="b"/>
              <a:pathLst>
                <a:path w="1495171" h="1794256">
                  <a:moveTo>
                    <a:pt x="0" y="0"/>
                  </a:moveTo>
                  <a:lnTo>
                    <a:pt x="1495171" y="0"/>
                  </a:lnTo>
                  <a:lnTo>
                    <a:pt x="1495171" y="1794256"/>
                  </a:lnTo>
                  <a:lnTo>
                    <a:pt x="0" y="179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2" r="-216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474709" y="2963018"/>
            <a:ext cx="2242842" cy="30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1. Data Preparation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4709" y="3311576"/>
            <a:ext cx="7747692" cy="3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Annotated positive sample extraction + random negative mining from a </a:t>
            </a:r>
            <a:r>
              <a:rPr lang="en-US" sz="175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50-image dataset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7589" y="4113009"/>
            <a:ext cx="1121416" cy="1345702"/>
            <a:chOff x="0" y="0"/>
            <a:chExt cx="1495222" cy="1794269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495171" cy="1794256"/>
            </a:xfrm>
            <a:custGeom>
              <a:avLst/>
              <a:gdLst/>
              <a:ahLst/>
              <a:cxnLst/>
              <a:rect l="l" t="t" r="r" b="b"/>
              <a:pathLst>
                <a:path w="1495171" h="1794256">
                  <a:moveTo>
                    <a:pt x="0" y="0"/>
                  </a:moveTo>
                  <a:lnTo>
                    <a:pt x="1495171" y="0"/>
                  </a:lnTo>
                  <a:lnTo>
                    <a:pt x="1495171" y="1794256"/>
                  </a:lnTo>
                  <a:lnTo>
                    <a:pt x="0" y="179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2" r="-216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474709" y="4308719"/>
            <a:ext cx="2242842" cy="30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2. HOG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74709" y="4657277"/>
            <a:ext cx="7747692" cy="3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HOG</a:t>
            </a: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feature extraction from fixed-size </a:t>
            </a:r>
            <a:r>
              <a:rPr lang="en-US" sz="175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64×64</a:t>
            </a: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patches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7589" y="5458720"/>
            <a:ext cx="1121416" cy="1345702"/>
            <a:chOff x="0" y="0"/>
            <a:chExt cx="1495222" cy="1794269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495171" cy="1794256"/>
            </a:xfrm>
            <a:custGeom>
              <a:avLst/>
              <a:gdLst/>
              <a:ahLst/>
              <a:cxnLst/>
              <a:rect l="l" t="t" r="r" b="b"/>
              <a:pathLst>
                <a:path w="1495171" h="1794256">
                  <a:moveTo>
                    <a:pt x="0" y="0"/>
                  </a:moveTo>
                  <a:lnTo>
                    <a:pt x="1495171" y="0"/>
                  </a:lnTo>
                  <a:lnTo>
                    <a:pt x="1495171" y="1794256"/>
                  </a:lnTo>
                  <a:lnTo>
                    <a:pt x="0" y="179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2" r="-216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2474709" y="5654431"/>
            <a:ext cx="2242842" cy="30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3. Linear SVM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74709" y="6002979"/>
            <a:ext cx="7747692" cy="3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Training a </a:t>
            </a:r>
            <a:r>
              <a:rPr lang="en-US" sz="175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Linear SVM</a:t>
            </a: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on 1764-dimensional feature vectors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7589" y="6804422"/>
            <a:ext cx="1121416" cy="1345702"/>
            <a:chOff x="0" y="0"/>
            <a:chExt cx="1495222" cy="1794269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495171" cy="1794256"/>
            </a:xfrm>
            <a:custGeom>
              <a:avLst/>
              <a:gdLst/>
              <a:ahLst/>
              <a:cxnLst/>
              <a:rect l="l" t="t" r="r" b="b"/>
              <a:pathLst>
                <a:path w="1495171" h="1794256">
                  <a:moveTo>
                    <a:pt x="0" y="0"/>
                  </a:moveTo>
                  <a:lnTo>
                    <a:pt x="1495171" y="0"/>
                  </a:lnTo>
                  <a:lnTo>
                    <a:pt x="1495171" y="1794256"/>
                  </a:lnTo>
                  <a:lnTo>
                    <a:pt x="0" y="179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12" r="-216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474709" y="7000132"/>
            <a:ext cx="2242842" cy="30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4. Inference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74709" y="7348690"/>
            <a:ext cx="7747692" cy="3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Multi-scale inference via </a:t>
            </a:r>
            <a:r>
              <a:rPr lang="en-US" sz="175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image pyramid + sliding window</a:t>
            </a:r>
            <a:r>
              <a:rPr lang="en-US" sz="175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followed by </a:t>
            </a:r>
            <a:r>
              <a:rPr lang="en-US" sz="175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NMS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07589" y="8314134"/>
            <a:ext cx="9014822" cy="740864"/>
            <a:chOff x="0" y="0"/>
            <a:chExt cx="12019763" cy="9878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019788" cy="987806"/>
            </a:xfrm>
            <a:custGeom>
              <a:avLst/>
              <a:gdLst/>
              <a:ahLst/>
              <a:cxnLst/>
              <a:rect l="l" t="t" r="r" b="b"/>
              <a:pathLst>
                <a:path w="12019788" h="987806">
                  <a:moveTo>
                    <a:pt x="0" y="125603"/>
                  </a:moveTo>
                  <a:cubicBezTo>
                    <a:pt x="0" y="56261"/>
                    <a:pt x="56261" y="0"/>
                    <a:pt x="125603" y="0"/>
                  </a:cubicBezTo>
                  <a:lnTo>
                    <a:pt x="11894185" y="0"/>
                  </a:lnTo>
                  <a:cubicBezTo>
                    <a:pt x="11963527" y="0"/>
                    <a:pt x="12019788" y="56261"/>
                    <a:pt x="12019788" y="125603"/>
                  </a:cubicBezTo>
                  <a:lnTo>
                    <a:pt x="12019788" y="862203"/>
                  </a:lnTo>
                  <a:cubicBezTo>
                    <a:pt x="12019788" y="931545"/>
                    <a:pt x="11963527" y="987806"/>
                    <a:pt x="11894185" y="987806"/>
                  </a:cubicBezTo>
                  <a:lnTo>
                    <a:pt x="125603" y="987806"/>
                  </a:lnTo>
                  <a:cubicBezTo>
                    <a:pt x="56261" y="987806"/>
                    <a:pt x="0" y="931545"/>
                    <a:pt x="0" y="862203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431874" y="8626678"/>
            <a:ext cx="280245" cy="224285"/>
            <a:chOff x="0" y="0"/>
            <a:chExt cx="373659" cy="299047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373634" cy="299085"/>
            </a:xfrm>
            <a:custGeom>
              <a:avLst/>
              <a:gdLst/>
              <a:ahLst/>
              <a:cxnLst/>
              <a:rect l="l" t="t" r="r" b="b"/>
              <a:pathLst>
                <a:path w="373634" h="299085">
                  <a:moveTo>
                    <a:pt x="0" y="0"/>
                  </a:moveTo>
                  <a:lnTo>
                    <a:pt x="373634" y="0"/>
                  </a:lnTo>
                  <a:lnTo>
                    <a:pt x="373634" y="299085"/>
                  </a:lnTo>
                  <a:lnTo>
                    <a:pt x="0" y="29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702" r="-6" b="-1690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936404" y="8468173"/>
            <a:ext cx="8061722" cy="3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Implemented in Python using </a:t>
            </a: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scikit-image</a:t>
            </a:r>
            <a:r>
              <a:rPr lang="en-US" sz="1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scikit-learn</a:t>
            </a:r>
            <a:r>
              <a:rPr lang="en-US" sz="1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</a:t>
            </a: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 GPU required</a:t>
            </a:r>
            <a:r>
              <a:rPr lang="en-US" sz="1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635CFF64-F8BD-1D5B-1566-5130C9B3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649" y="10155555"/>
            <a:ext cx="9656951" cy="55620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endParaRPr lang="en-US" dirty="0">
              <a:solidFill>
                <a:srgbClr val="383838"/>
              </a:solidFill>
              <a:latin typeface="Arimo"/>
              <a:ea typeface="Arimo"/>
              <a:cs typeface="Arimo"/>
              <a:sym typeface="Arimo"/>
            </a:endParaRPr>
          </a:p>
          <a:p>
            <a:endParaRPr lang="en-US" dirty="0">
              <a:solidFill>
                <a:srgbClr val="383838"/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</a:p>
          <a:p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76030"/>
            <a:ext cx="6210891" cy="81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373068"/>
            <a:ext cx="15872822" cy="102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Traffic sign recognition (TSR) is safety-critical in intelligent transportation and autonomous driving. A missed stop sign can cause accidents or life-threatening collisions.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3631559"/>
            <a:ext cx="15872822" cy="54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Two broad approaches exist: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4047" y="4494162"/>
            <a:ext cx="8004724" cy="2656437"/>
            <a:chOff x="0" y="0"/>
            <a:chExt cx="10672966" cy="35419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72952" cy="3541903"/>
            </a:xfrm>
            <a:custGeom>
              <a:avLst/>
              <a:gdLst/>
              <a:ahLst/>
              <a:cxnLst/>
              <a:rect l="l" t="t" r="r" b="b"/>
              <a:pathLst>
                <a:path w="10672952" h="3541903">
                  <a:moveTo>
                    <a:pt x="0" y="298069"/>
                  </a:moveTo>
                  <a:cubicBezTo>
                    <a:pt x="0" y="133477"/>
                    <a:pt x="133477" y="0"/>
                    <a:pt x="298069" y="0"/>
                  </a:cubicBezTo>
                  <a:lnTo>
                    <a:pt x="10374884" y="0"/>
                  </a:lnTo>
                  <a:cubicBezTo>
                    <a:pt x="10539476" y="0"/>
                    <a:pt x="10672952" y="133477"/>
                    <a:pt x="10672952" y="298069"/>
                  </a:cubicBezTo>
                  <a:lnTo>
                    <a:pt x="10672952" y="3243834"/>
                  </a:lnTo>
                  <a:cubicBezTo>
                    <a:pt x="10672952" y="3408426"/>
                    <a:pt x="10539476" y="3541903"/>
                    <a:pt x="10374884" y="3541903"/>
                  </a:cubicBezTo>
                  <a:lnTo>
                    <a:pt x="298069" y="3541903"/>
                  </a:lnTo>
                  <a:cubicBezTo>
                    <a:pt x="133477" y="3541903"/>
                    <a:pt x="0" y="3408426"/>
                    <a:pt x="0" y="3243834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94505" y="4763986"/>
            <a:ext cx="4649095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Classical (HOG + SVM)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4505" y="5364804"/>
            <a:ext cx="7383809" cy="1688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Interpretable</a:t>
            </a:r>
          </a:p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Data-efficient</a:t>
            </a:r>
          </a:p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Deployable on embedded hardware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32296" y="4763986"/>
            <a:ext cx="3105445" cy="39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Deep CNNs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32296" y="5364804"/>
            <a:ext cx="7557640" cy="111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State-of-the-art accuracy</a:t>
            </a:r>
          </a:p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Require large datasets, GPUs, and complex pipelines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52350" y="7380575"/>
            <a:ext cx="15872822" cy="1707804"/>
            <a:chOff x="0" y="0"/>
            <a:chExt cx="21163763" cy="22770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163660" cy="2276983"/>
            </a:xfrm>
            <a:custGeom>
              <a:avLst/>
              <a:gdLst/>
              <a:ahLst/>
              <a:cxnLst/>
              <a:rect l="l" t="t" r="r" b="b"/>
              <a:pathLst>
                <a:path w="21163660" h="2276983">
                  <a:moveTo>
                    <a:pt x="0" y="173863"/>
                  </a:moveTo>
                  <a:cubicBezTo>
                    <a:pt x="0" y="77851"/>
                    <a:pt x="77851" y="0"/>
                    <a:pt x="173863" y="0"/>
                  </a:cubicBezTo>
                  <a:lnTo>
                    <a:pt x="20989798" y="0"/>
                  </a:lnTo>
                  <a:cubicBezTo>
                    <a:pt x="21085811" y="0"/>
                    <a:pt x="21163660" y="77851"/>
                    <a:pt x="21163660" y="173863"/>
                  </a:cubicBezTo>
                  <a:lnTo>
                    <a:pt x="21163660" y="2103120"/>
                  </a:lnTo>
                  <a:cubicBezTo>
                    <a:pt x="21163660" y="2199132"/>
                    <a:pt x="21085811" y="2276983"/>
                    <a:pt x="20989798" y="2276983"/>
                  </a:cubicBezTo>
                  <a:lnTo>
                    <a:pt x="173863" y="2276983"/>
                  </a:lnTo>
                  <a:cubicBezTo>
                    <a:pt x="77851" y="2277110"/>
                    <a:pt x="0" y="2199259"/>
                    <a:pt x="0" y="210312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18047" y="7924057"/>
            <a:ext cx="388144" cy="310458"/>
            <a:chOff x="0" y="0"/>
            <a:chExt cx="517525" cy="413944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517525" cy="413893"/>
            </a:xfrm>
            <a:custGeom>
              <a:avLst/>
              <a:gdLst/>
              <a:ahLst/>
              <a:cxnLst/>
              <a:rect l="l" t="t" r="r" b="b"/>
              <a:pathLst>
                <a:path w="517525" h="413893">
                  <a:moveTo>
                    <a:pt x="0" y="0"/>
                  </a:moveTo>
                  <a:lnTo>
                    <a:pt x="517525" y="0"/>
                  </a:lnTo>
                  <a:lnTo>
                    <a:pt x="517525" y="413893"/>
                  </a:lnTo>
                  <a:lnTo>
                    <a:pt x="0" y="4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6" b="-325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216648" y="7745616"/>
            <a:ext cx="14553305" cy="102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small datasets and limited hardware, </a:t>
            </a:r>
            <a:r>
              <a:rPr lang="en-US" sz="243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classical pipelines remain highly relevant</a:t>
            </a:r>
            <a:r>
              <a:rPr lang="en-US" sz="2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and form the conceptual foundation for understanding modern deep detectors.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D67E596-B6DE-88DE-4D0F-D3BB2177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344" y="9921875"/>
            <a:ext cx="9441952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6654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58618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Project Goals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9983" y="2644531"/>
            <a:ext cx="5108524" cy="3126581"/>
            <a:chOff x="0" y="0"/>
            <a:chExt cx="6811366" cy="4168775"/>
          </a:xfrm>
        </p:grpSpPr>
        <p:sp>
          <p:nvSpPr>
            <p:cNvPr id="8" name="Freeform 8"/>
            <p:cNvSpPr/>
            <p:nvPr/>
          </p:nvSpPr>
          <p:spPr>
            <a:xfrm>
              <a:off x="31750" y="31750"/>
              <a:ext cx="6747891" cy="4105275"/>
            </a:xfrm>
            <a:custGeom>
              <a:avLst/>
              <a:gdLst/>
              <a:ahLst/>
              <a:cxnLst/>
              <a:rect l="l" t="t" r="r" b="b"/>
              <a:pathLst>
                <a:path w="6747891" h="4105275">
                  <a:moveTo>
                    <a:pt x="0" y="304800"/>
                  </a:moveTo>
                  <a:cubicBezTo>
                    <a:pt x="0" y="136398"/>
                    <a:pt x="137287" y="0"/>
                    <a:pt x="306705" y="0"/>
                  </a:cubicBezTo>
                  <a:lnTo>
                    <a:pt x="6441186" y="0"/>
                  </a:lnTo>
                  <a:cubicBezTo>
                    <a:pt x="6610604" y="0"/>
                    <a:pt x="6747891" y="136525"/>
                    <a:pt x="6747891" y="304800"/>
                  </a:cubicBezTo>
                  <a:lnTo>
                    <a:pt x="6747891" y="3800475"/>
                  </a:lnTo>
                  <a:cubicBezTo>
                    <a:pt x="6747891" y="3968877"/>
                    <a:pt x="6610604" y="4105275"/>
                    <a:pt x="6441186" y="4105275"/>
                  </a:cubicBezTo>
                  <a:lnTo>
                    <a:pt x="306705" y="4105275"/>
                  </a:lnTo>
                  <a:cubicBezTo>
                    <a:pt x="137287" y="4105275"/>
                    <a:pt x="0" y="3968750"/>
                    <a:pt x="0" y="3800475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811391" cy="4168775"/>
            </a:xfrm>
            <a:custGeom>
              <a:avLst/>
              <a:gdLst/>
              <a:ahLst/>
              <a:cxnLst/>
              <a:rect l="l" t="t" r="r" b="b"/>
              <a:pathLst>
                <a:path w="6811391" h="4168775">
                  <a:moveTo>
                    <a:pt x="0" y="336550"/>
                  </a:moveTo>
                  <a:cubicBezTo>
                    <a:pt x="0" y="150495"/>
                    <a:pt x="151638" y="0"/>
                    <a:pt x="338455" y="0"/>
                  </a:cubicBezTo>
                  <a:lnTo>
                    <a:pt x="6472936" y="0"/>
                  </a:lnTo>
                  <a:lnTo>
                    <a:pt x="6472936" y="31750"/>
                  </a:lnTo>
                  <a:lnTo>
                    <a:pt x="6472936" y="0"/>
                  </a:lnTo>
                  <a:cubicBezTo>
                    <a:pt x="6659626" y="0"/>
                    <a:pt x="6811391" y="150495"/>
                    <a:pt x="6811391" y="336550"/>
                  </a:cubicBezTo>
                  <a:lnTo>
                    <a:pt x="6779641" y="336550"/>
                  </a:lnTo>
                  <a:lnTo>
                    <a:pt x="6811391" y="336550"/>
                  </a:lnTo>
                  <a:lnTo>
                    <a:pt x="6811391" y="3832225"/>
                  </a:lnTo>
                  <a:lnTo>
                    <a:pt x="6779641" y="3832225"/>
                  </a:lnTo>
                  <a:lnTo>
                    <a:pt x="6811391" y="3832225"/>
                  </a:lnTo>
                  <a:cubicBezTo>
                    <a:pt x="6811391" y="4018280"/>
                    <a:pt x="6659753" y="4168775"/>
                    <a:pt x="6472936" y="4168775"/>
                  </a:cubicBezTo>
                  <a:lnTo>
                    <a:pt x="6472936" y="4137025"/>
                  </a:lnTo>
                  <a:lnTo>
                    <a:pt x="6472936" y="4168775"/>
                  </a:lnTo>
                  <a:lnTo>
                    <a:pt x="338455" y="4168775"/>
                  </a:lnTo>
                  <a:lnTo>
                    <a:pt x="338455" y="4137025"/>
                  </a:lnTo>
                  <a:lnTo>
                    <a:pt x="338455" y="4168775"/>
                  </a:lnTo>
                  <a:cubicBezTo>
                    <a:pt x="151638" y="4168775"/>
                    <a:pt x="0" y="4018280"/>
                    <a:pt x="0" y="3832225"/>
                  </a:cubicBezTo>
                  <a:lnTo>
                    <a:pt x="0" y="336550"/>
                  </a:lnTo>
                  <a:lnTo>
                    <a:pt x="31750" y="336550"/>
                  </a:lnTo>
                  <a:lnTo>
                    <a:pt x="0" y="336550"/>
                  </a:lnTo>
                  <a:moveTo>
                    <a:pt x="63500" y="336550"/>
                  </a:moveTo>
                  <a:lnTo>
                    <a:pt x="63500" y="3832225"/>
                  </a:lnTo>
                  <a:lnTo>
                    <a:pt x="31750" y="3832225"/>
                  </a:lnTo>
                  <a:lnTo>
                    <a:pt x="63500" y="3832225"/>
                  </a:lnTo>
                  <a:cubicBezTo>
                    <a:pt x="63500" y="3982847"/>
                    <a:pt x="186436" y="4105275"/>
                    <a:pt x="338455" y="4105275"/>
                  </a:cubicBezTo>
                  <a:lnTo>
                    <a:pt x="6472936" y="4105275"/>
                  </a:lnTo>
                  <a:cubicBezTo>
                    <a:pt x="6624955" y="4105275"/>
                    <a:pt x="6747891" y="3982847"/>
                    <a:pt x="6747891" y="3832225"/>
                  </a:cubicBezTo>
                  <a:lnTo>
                    <a:pt x="6747891" y="336550"/>
                  </a:lnTo>
                  <a:cubicBezTo>
                    <a:pt x="6747891" y="185928"/>
                    <a:pt x="6624955" y="63500"/>
                    <a:pt x="6472936" y="63500"/>
                  </a:cubicBezTo>
                  <a:lnTo>
                    <a:pt x="338455" y="63500"/>
                  </a:lnTo>
                  <a:lnTo>
                    <a:pt x="338455" y="31750"/>
                  </a:lnTo>
                  <a:lnTo>
                    <a:pt x="338455" y="63500"/>
                  </a:lnTo>
                  <a:cubicBezTo>
                    <a:pt x="186436" y="63500"/>
                    <a:pt x="63500" y="185928"/>
                    <a:pt x="63500" y="33655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9964" y="2668343"/>
            <a:ext cx="190500" cy="3078956"/>
            <a:chOff x="0" y="0"/>
            <a:chExt cx="254000" cy="4105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4000" cy="4105275"/>
            </a:xfrm>
            <a:custGeom>
              <a:avLst/>
              <a:gdLst/>
              <a:ahLst/>
              <a:cxnLst/>
              <a:rect l="l" t="t" r="r" b="b"/>
              <a:pathLst>
                <a:path w="254000" h="41052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lnTo>
                    <a:pt x="254000" y="3978275"/>
                  </a:lnTo>
                  <a:cubicBezTo>
                    <a:pt x="254000" y="4048379"/>
                    <a:pt x="197104" y="4105275"/>
                    <a:pt x="127000" y="4105275"/>
                  </a:cubicBezTo>
                  <a:cubicBezTo>
                    <a:pt x="56896" y="4105275"/>
                    <a:pt x="0" y="4048379"/>
                    <a:pt x="0" y="3978275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743075" y="3032369"/>
            <a:ext cx="3795206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Accurate Classification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3075" y="3575294"/>
            <a:ext cx="4239604" cy="1594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Accurately classify stop-sign patches with minimal false positives/negatives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89662" y="2644531"/>
            <a:ext cx="5108524" cy="3126581"/>
            <a:chOff x="0" y="0"/>
            <a:chExt cx="6811366" cy="4168775"/>
          </a:xfrm>
        </p:grpSpPr>
        <p:sp>
          <p:nvSpPr>
            <p:cNvPr id="15" name="Freeform 15"/>
            <p:cNvSpPr/>
            <p:nvPr/>
          </p:nvSpPr>
          <p:spPr>
            <a:xfrm>
              <a:off x="31750" y="31750"/>
              <a:ext cx="6747891" cy="4105275"/>
            </a:xfrm>
            <a:custGeom>
              <a:avLst/>
              <a:gdLst/>
              <a:ahLst/>
              <a:cxnLst/>
              <a:rect l="l" t="t" r="r" b="b"/>
              <a:pathLst>
                <a:path w="6747891" h="4105275">
                  <a:moveTo>
                    <a:pt x="0" y="304800"/>
                  </a:moveTo>
                  <a:cubicBezTo>
                    <a:pt x="0" y="136398"/>
                    <a:pt x="137287" y="0"/>
                    <a:pt x="306705" y="0"/>
                  </a:cubicBezTo>
                  <a:lnTo>
                    <a:pt x="6441186" y="0"/>
                  </a:lnTo>
                  <a:cubicBezTo>
                    <a:pt x="6610604" y="0"/>
                    <a:pt x="6747891" y="136525"/>
                    <a:pt x="6747891" y="304800"/>
                  </a:cubicBezTo>
                  <a:lnTo>
                    <a:pt x="6747891" y="3800475"/>
                  </a:lnTo>
                  <a:cubicBezTo>
                    <a:pt x="6747891" y="3968877"/>
                    <a:pt x="6610604" y="4105275"/>
                    <a:pt x="6441186" y="4105275"/>
                  </a:cubicBezTo>
                  <a:lnTo>
                    <a:pt x="306705" y="4105275"/>
                  </a:lnTo>
                  <a:cubicBezTo>
                    <a:pt x="137287" y="4105275"/>
                    <a:pt x="0" y="3968750"/>
                    <a:pt x="0" y="3800475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811391" cy="4168775"/>
            </a:xfrm>
            <a:custGeom>
              <a:avLst/>
              <a:gdLst/>
              <a:ahLst/>
              <a:cxnLst/>
              <a:rect l="l" t="t" r="r" b="b"/>
              <a:pathLst>
                <a:path w="6811391" h="4168775">
                  <a:moveTo>
                    <a:pt x="0" y="336550"/>
                  </a:moveTo>
                  <a:cubicBezTo>
                    <a:pt x="0" y="150495"/>
                    <a:pt x="151638" y="0"/>
                    <a:pt x="338455" y="0"/>
                  </a:cubicBezTo>
                  <a:lnTo>
                    <a:pt x="6472936" y="0"/>
                  </a:lnTo>
                  <a:lnTo>
                    <a:pt x="6472936" y="31750"/>
                  </a:lnTo>
                  <a:lnTo>
                    <a:pt x="6472936" y="0"/>
                  </a:lnTo>
                  <a:cubicBezTo>
                    <a:pt x="6659626" y="0"/>
                    <a:pt x="6811391" y="150495"/>
                    <a:pt x="6811391" y="336550"/>
                  </a:cubicBezTo>
                  <a:lnTo>
                    <a:pt x="6779641" y="336550"/>
                  </a:lnTo>
                  <a:lnTo>
                    <a:pt x="6811391" y="336550"/>
                  </a:lnTo>
                  <a:lnTo>
                    <a:pt x="6811391" y="3832225"/>
                  </a:lnTo>
                  <a:lnTo>
                    <a:pt x="6779641" y="3832225"/>
                  </a:lnTo>
                  <a:lnTo>
                    <a:pt x="6811391" y="3832225"/>
                  </a:lnTo>
                  <a:cubicBezTo>
                    <a:pt x="6811391" y="4018280"/>
                    <a:pt x="6659753" y="4168775"/>
                    <a:pt x="6472936" y="4168775"/>
                  </a:cubicBezTo>
                  <a:lnTo>
                    <a:pt x="6472936" y="4137025"/>
                  </a:lnTo>
                  <a:lnTo>
                    <a:pt x="6472936" y="4168775"/>
                  </a:lnTo>
                  <a:lnTo>
                    <a:pt x="338455" y="4168775"/>
                  </a:lnTo>
                  <a:lnTo>
                    <a:pt x="338455" y="4137025"/>
                  </a:lnTo>
                  <a:lnTo>
                    <a:pt x="338455" y="4168775"/>
                  </a:lnTo>
                  <a:cubicBezTo>
                    <a:pt x="151638" y="4168775"/>
                    <a:pt x="0" y="4018280"/>
                    <a:pt x="0" y="3832225"/>
                  </a:cubicBezTo>
                  <a:lnTo>
                    <a:pt x="0" y="336550"/>
                  </a:lnTo>
                  <a:lnTo>
                    <a:pt x="31750" y="336550"/>
                  </a:lnTo>
                  <a:lnTo>
                    <a:pt x="0" y="336550"/>
                  </a:lnTo>
                  <a:moveTo>
                    <a:pt x="63500" y="336550"/>
                  </a:moveTo>
                  <a:lnTo>
                    <a:pt x="63500" y="3832225"/>
                  </a:lnTo>
                  <a:lnTo>
                    <a:pt x="31750" y="3832225"/>
                  </a:lnTo>
                  <a:lnTo>
                    <a:pt x="63500" y="3832225"/>
                  </a:lnTo>
                  <a:cubicBezTo>
                    <a:pt x="63500" y="3982847"/>
                    <a:pt x="186436" y="4105275"/>
                    <a:pt x="338455" y="4105275"/>
                  </a:cubicBezTo>
                  <a:lnTo>
                    <a:pt x="6472936" y="4105275"/>
                  </a:lnTo>
                  <a:cubicBezTo>
                    <a:pt x="6624955" y="4105275"/>
                    <a:pt x="6747891" y="3982847"/>
                    <a:pt x="6747891" y="3832225"/>
                  </a:cubicBezTo>
                  <a:lnTo>
                    <a:pt x="6747891" y="336550"/>
                  </a:lnTo>
                  <a:cubicBezTo>
                    <a:pt x="6747891" y="185928"/>
                    <a:pt x="6624955" y="63500"/>
                    <a:pt x="6472936" y="63500"/>
                  </a:cubicBezTo>
                  <a:lnTo>
                    <a:pt x="338455" y="63500"/>
                  </a:lnTo>
                  <a:lnTo>
                    <a:pt x="338455" y="31750"/>
                  </a:lnTo>
                  <a:lnTo>
                    <a:pt x="338455" y="63500"/>
                  </a:lnTo>
                  <a:cubicBezTo>
                    <a:pt x="186436" y="63500"/>
                    <a:pt x="63500" y="185928"/>
                    <a:pt x="63500" y="33655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565849" y="2668343"/>
            <a:ext cx="190500" cy="3078956"/>
            <a:chOff x="0" y="0"/>
            <a:chExt cx="254000" cy="41052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4000" cy="4105275"/>
            </a:xfrm>
            <a:custGeom>
              <a:avLst/>
              <a:gdLst/>
              <a:ahLst/>
              <a:cxnLst/>
              <a:rect l="l" t="t" r="r" b="b"/>
              <a:pathLst>
                <a:path w="254000" h="41052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lnTo>
                    <a:pt x="254000" y="3978275"/>
                  </a:lnTo>
                  <a:cubicBezTo>
                    <a:pt x="254000" y="4048379"/>
                    <a:pt x="197104" y="4105275"/>
                    <a:pt x="127000" y="4105275"/>
                  </a:cubicBezTo>
                  <a:cubicBezTo>
                    <a:pt x="56896" y="4105275"/>
                    <a:pt x="0" y="4048379"/>
                    <a:pt x="0" y="3978275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7148960" y="3032369"/>
            <a:ext cx="3450431" cy="4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Multi-Scale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Detection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48960" y="3575294"/>
            <a:ext cx="4132812" cy="1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Detect stop signs at </a:t>
            </a: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arbitrary scales</a:t>
            </a: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(multi-scale detection)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995547" y="2644531"/>
            <a:ext cx="5108677" cy="3126581"/>
            <a:chOff x="0" y="0"/>
            <a:chExt cx="6811569" cy="4168775"/>
          </a:xfrm>
        </p:grpSpPr>
        <p:sp>
          <p:nvSpPr>
            <p:cNvPr id="22" name="Freeform 22"/>
            <p:cNvSpPr/>
            <p:nvPr/>
          </p:nvSpPr>
          <p:spPr>
            <a:xfrm>
              <a:off x="31750" y="31750"/>
              <a:ext cx="6748145" cy="4105275"/>
            </a:xfrm>
            <a:custGeom>
              <a:avLst/>
              <a:gdLst/>
              <a:ahLst/>
              <a:cxnLst/>
              <a:rect l="l" t="t" r="r" b="b"/>
              <a:pathLst>
                <a:path w="6748145" h="4105275">
                  <a:moveTo>
                    <a:pt x="0" y="304800"/>
                  </a:moveTo>
                  <a:cubicBezTo>
                    <a:pt x="0" y="136398"/>
                    <a:pt x="137287" y="0"/>
                    <a:pt x="306705" y="0"/>
                  </a:cubicBezTo>
                  <a:lnTo>
                    <a:pt x="6441440" y="0"/>
                  </a:lnTo>
                  <a:cubicBezTo>
                    <a:pt x="6610858" y="0"/>
                    <a:pt x="6748145" y="136525"/>
                    <a:pt x="6748145" y="304800"/>
                  </a:cubicBezTo>
                  <a:lnTo>
                    <a:pt x="6748145" y="3800475"/>
                  </a:lnTo>
                  <a:cubicBezTo>
                    <a:pt x="6748145" y="3968877"/>
                    <a:pt x="6610858" y="4105275"/>
                    <a:pt x="6441440" y="4105275"/>
                  </a:cubicBezTo>
                  <a:lnTo>
                    <a:pt x="306705" y="4105275"/>
                  </a:lnTo>
                  <a:cubicBezTo>
                    <a:pt x="137287" y="4105275"/>
                    <a:pt x="0" y="3968750"/>
                    <a:pt x="0" y="3800475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811645" cy="4168775"/>
            </a:xfrm>
            <a:custGeom>
              <a:avLst/>
              <a:gdLst/>
              <a:ahLst/>
              <a:cxnLst/>
              <a:rect l="l" t="t" r="r" b="b"/>
              <a:pathLst>
                <a:path w="6811645" h="4168775">
                  <a:moveTo>
                    <a:pt x="0" y="336550"/>
                  </a:moveTo>
                  <a:cubicBezTo>
                    <a:pt x="0" y="150495"/>
                    <a:pt x="151638" y="0"/>
                    <a:pt x="338455" y="0"/>
                  </a:cubicBezTo>
                  <a:lnTo>
                    <a:pt x="6473190" y="0"/>
                  </a:lnTo>
                  <a:lnTo>
                    <a:pt x="6473190" y="31750"/>
                  </a:lnTo>
                  <a:lnTo>
                    <a:pt x="6473190" y="0"/>
                  </a:lnTo>
                  <a:cubicBezTo>
                    <a:pt x="6659880" y="0"/>
                    <a:pt x="6811645" y="150495"/>
                    <a:pt x="6811645" y="336550"/>
                  </a:cubicBezTo>
                  <a:lnTo>
                    <a:pt x="6779895" y="336550"/>
                  </a:lnTo>
                  <a:lnTo>
                    <a:pt x="6811645" y="336550"/>
                  </a:lnTo>
                  <a:lnTo>
                    <a:pt x="6811645" y="3832225"/>
                  </a:lnTo>
                  <a:lnTo>
                    <a:pt x="6779895" y="3832225"/>
                  </a:lnTo>
                  <a:lnTo>
                    <a:pt x="6811645" y="3832225"/>
                  </a:lnTo>
                  <a:cubicBezTo>
                    <a:pt x="6811645" y="4018280"/>
                    <a:pt x="6660007" y="4168775"/>
                    <a:pt x="6473190" y="4168775"/>
                  </a:cubicBezTo>
                  <a:lnTo>
                    <a:pt x="6473190" y="4137025"/>
                  </a:lnTo>
                  <a:lnTo>
                    <a:pt x="6473190" y="4168775"/>
                  </a:lnTo>
                  <a:lnTo>
                    <a:pt x="338455" y="4168775"/>
                  </a:lnTo>
                  <a:lnTo>
                    <a:pt x="338455" y="4137025"/>
                  </a:lnTo>
                  <a:lnTo>
                    <a:pt x="338455" y="4168775"/>
                  </a:lnTo>
                  <a:cubicBezTo>
                    <a:pt x="151638" y="4168775"/>
                    <a:pt x="0" y="4018280"/>
                    <a:pt x="0" y="3832225"/>
                  </a:cubicBezTo>
                  <a:lnTo>
                    <a:pt x="0" y="336550"/>
                  </a:lnTo>
                  <a:lnTo>
                    <a:pt x="31750" y="336550"/>
                  </a:lnTo>
                  <a:lnTo>
                    <a:pt x="0" y="336550"/>
                  </a:lnTo>
                  <a:moveTo>
                    <a:pt x="63500" y="336550"/>
                  </a:moveTo>
                  <a:lnTo>
                    <a:pt x="63500" y="3832225"/>
                  </a:lnTo>
                  <a:lnTo>
                    <a:pt x="31750" y="3832225"/>
                  </a:lnTo>
                  <a:lnTo>
                    <a:pt x="63500" y="3832225"/>
                  </a:lnTo>
                  <a:cubicBezTo>
                    <a:pt x="63500" y="3982847"/>
                    <a:pt x="186436" y="4105275"/>
                    <a:pt x="338455" y="4105275"/>
                  </a:cubicBezTo>
                  <a:lnTo>
                    <a:pt x="6473190" y="4105275"/>
                  </a:lnTo>
                  <a:cubicBezTo>
                    <a:pt x="6625209" y="4105275"/>
                    <a:pt x="6748145" y="3982847"/>
                    <a:pt x="6748145" y="3832225"/>
                  </a:cubicBezTo>
                  <a:lnTo>
                    <a:pt x="6748145" y="336550"/>
                  </a:lnTo>
                  <a:cubicBezTo>
                    <a:pt x="6748145" y="185928"/>
                    <a:pt x="6625209" y="63500"/>
                    <a:pt x="6473190" y="63500"/>
                  </a:cubicBezTo>
                  <a:lnTo>
                    <a:pt x="338455" y="63500"/>
                  </a:lnTo>
                  <a:lnTo>
                    <a:pt x="338455" y="31750"/>
                  </a:lnTo>
                  <a:lnTo>
                    <a:pt x="338455" y="63500"/>
                  </a:lnTo>
                  <a:cubicBezTo>
                    <a:pt x="186436" y="63500"/>
                    <a:pt x="63500" y="185928"/>
                    <a:pt x="63500" y="33655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971734" y="2668343"/>
            <a:ext cx="190500" cy="3078956"/>
            <a:chOff x="0" y="0"/>
            <a:chExt cx="254000" cy="41052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0" cy="4105275"/>
            </a:xfrm>
            <a:custGeom>
              <a:avLst/>
              <a:gdLst/>
              <a:ahLst/>
              <a:cxnLst/>
              <a:rect l="l" t="t" r="r" b="b"/>
              <a:pathLst>
                <a:path w="254000" h="41052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lnTo>
                    <a:pt x="254000" y="3978275"/>
                  </a:lnTo>
                  <a:cubicBezTo>
                    <a:pt x="254000" y="4048379"/>
                    <a:pt x="197104" y="4105275"/>
                    <a:pt x="127000" y="4105275"/>
                  </a:cubicBezTo>
                  <a:cubicBezTo>
                    <a:pt x="56896" y="4105275"/>
                    <a:pt x="0" y="4048379"/>
                    <a:pt x="0" y="3978275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554845" y="3032369"/>
            <a:ext cx="3450431" cy="4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CPU-Only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Execution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54845" y="3575294"/>
            <a:ext cx="4132955" cy="104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Run entirely on </a:t>
            </a: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CPU — no GPU required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07589" y="6092275"/>
            <a:ext cx="5108524" cy="3126581"/>
            <a:chOff x="0" y="0"/>
            <a:chExt cx="6811366" cy="4168775"/>
          </a:xfrm>
        </p:grpSpPr>
        <p:sp>
          <p:nvSpPr>
            <p:cNvPr id="29" name="Freeform 29"/>
            <p:cNvSpPr/>
            <p:nvPr/>
          </p:nvSpPr>
          <p:spPr>
            <a:xfrm>
              <a:off x="31750" y="31750"/>
              <a:ext cx="6747891" cy="4105275"/>
            </a:xfrm>
            <a:custGeom>
              <a:avLst/>
              <a:gdLst/>
              <a:ahLst/>
              <a:cxnLst/>
              <a:rect l="l" t="t" r="r" b="b"/>
              <a:pathLst>
                <a:path w="6747891" h="4105275">
                  <a:moveTo>
                    <a:pt x="0" y="304800"/>
                  </a:moveTo>
                  <a:cubicBezTo>
                    <a:pt x="0" y="136398"/>
                    <a:pt x="137287" y="0"/>
                    <a:pt x="306705" y="0"/>
                  </a:cubicBezTo>
                  <a:lnTo>
                    <a:pt x="6441186" y="0"/>
                  </a:lnTo>
                  <a:cubicBezTo>
                    <a:pt x="6610604" y="0"/>
                    <a:pt x="6747891" y="136525"/>
                    <a:pt x="6747891" y="304800"/>
                  </a:cubicBezTo>
                  <a:lnTo>
                    <a:pt x="6747891" y="3800475"/>
                  </a:lnTo>
                  <a:cubicBezTo>
                    <a:pt x="6747891" y="3968877"/>
                    <a:pt x="6610604" y="4105275"/>
                    <a:pt x="6441186" y="4105275"/>
                  </a:cubicBezTo>
                  <a:lnTo>
                    <a:pt x="306705" y="4105275"/>
                  </a:lnTo>
                  <a:cubicBezTo>
                    <a:pt x="137287" y="4105275"/>
                    <a:pt x="0" y="3968750"/>
                    <a:pt x="0" y="3800475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6811391" cy="4168775"/>
            </a:xfrm>
            <a:custGeom>
              <a:avLst/>
              <a:gdLst/>
              <a:ahLst/>
              <a:cxnLst/>
              <a:rect l="l" t="t" r="r" b="b"/>
              <a:pathLst>
                <a:path w="6811391" h="4168775">
                  <a:moveTo>
                    <a:pt x="0" y="336550"/>
                  </a:moveTo>
                  <a:cubicBezTo>
                    <a:pt x="0" y="150495"/>
                    <a:pt x="151638" y="0"/>
                    <a:pt x="338455" y="0"/>
                  </a:cubicBezTo>
                  <a:lnTo>
                    <a:pt x="6472936" y="0"/>
                  </a:lnTo>
                  <a:lnTo>
                    <a:pt x="6472936" y="31750"/>
                  </a:lnTo>
                  <a:lnTo>
                    <a:pt x="6472936" y="0"/>
                  </a:lnTo>
                  <a:cubicBezTo>
                    <a:pt x="6659626" y="0"/>
                    <a:pt x="6811391" y="150495"/>
                    <a:pt x="6811391" y="336550"/>
                  </a:cubicBezTo>
                  <a:lnTo>
                    <a:pt x="6779641" y="336550"/>
                  </a:lnTo>
                  <a:lnTo>
                    <a:pt x="6811391" y="336550"/>
                  </a:lnTo>
                  <a:lnTo>
                    <a:pt x="6811391" y="3832225"/>
                  </a:lnTo>
                  <a:lnTo>
                    <a:pt x="6779641" y="3832225"/>
                  </a:lnTo>
                  <a:lnTo>
                    <a:pt x="6811391" y="3832225"/>
                  </a:lnTo>
                  <a:cubicBezTo>
                    <a:pt x="6811391" y="4018280"/>
                    <a:pt x="6659753" y="4168775"/>
                    <a:pt x="6472936" y="4168775"/>
                  </a:cubicBezTo>
                  <a:lnTo>
                    <a:pt x="6472936" y="4137025"/>
                  </a:lnTo>
                  <a:lnTo>
                    <a:pt x="6472936" y="4168775"/>
                  </a:lnTo>
                  <a:lnTo>
                    <a:pt x="338455" y="4168775"/>
                  </a:lnTo>
                  <a:lnTo>
                    <a:pt x="338455" y="4137025"/>
                  </a:lnTo>
                  <a:lnTo>
                    <a:pt x="338455" y="4168775"/>
                  </a:lnTo>
                  <a:cubicBezTo>
                    <a:pt x="151638" y="4168775"/>
                    <a:pt x="0" y="4018280"/>
                    <a:pt x="0" y="3832225"/>
                  </a:cubicBezTo>
                  <a:lnTo>
                    <a:pt x="0" y="336550"/>
                  </a:lnTo>
                  <a:lnTo>
                    <a:pt x="31750" y="336550"/>
                  </a:lnTo>
                  <a:lnTo>
                    <a:pt x="0" y="336550"/>
                  </a:lnTo>
                  <a:moveTo>
                    <a:pt x="63500" y="336550"/>
                  </a:moveTo>
                  <a:lnTo>
                    <a:pt x="63500" y="3832225"/>
                  </a:lnTo>
                  <a:lnTo>
                    <a:pt x="31750" y="3832225"/>
                  </a:lnTo>
                  <a:lnTo>
                    <a:pt x="63500" y="3832225"/>
                  </a:lnTo>
                  <a:cubicBezTo>
                    <a:pt x="63500" y="3982847"/>
                    <a:pt x="186436" y="4105275"/>
                    <a:pt x="338455" y="4105275"/>
                  </a:cubicBezTo>
                  <a:lnTo>
                    <a:pt x="6472936" y="4105275"/>
                  </a:lnTo>
                  <a:cubicBezTo>
                    <a:pt x="6624955" y="4105275"/>
                    <a:pt x="6747891" y="3982847"/>
                    <a:pt x="6747891" y="3832225"/>
                  </a:cubicBezTo>
                  <a:lnTo>
                    <a:pt x="6747891" y="336550"/>
                  </a:lnTo>
                  <a:cubicBezTo>
                    <a:pt x="6747891" y="185928"/>
                    <a:pt x="6624955" y="63500"/>
                    <a:pt x="6472936" y="63500"/>
                  </a:cubicBezTo>
                  <a:lnTo>
                    <a:pt x="338455" y="63500"/>
                  </a:lnTo>
                  <a:lnTo>
                    <a:pt x="338455" y="31750"/>
                  </a:lnTo>
                  <a:lnTo>
                    <a:pt x="338455" y="63500"/>
                  </a:lnTo>
                  <a:cubicBezTo>
                    <a:pt x="186436" y="63500"/>
                    <a:pt x="63500" y="185928"/>
                    <a:pt x="63500" y="33655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59964" y="6092276"/>
            <a:ext cx="190500" cy="3078956"/>
            <a:chOff x="0" y="0"/>
            <a:chExt cx="254000" cy="410527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54000" cy="4105275"/>
            </a:xfrm>
            <a:custGeom>
              <a:avLst/>
              <a:gdLst/>
              <a:ahLst/>
              <a:cxnLst/>
              <a:rect l="l" t="t" r="r" b="b"/>
              <a:pathLst>
                <a:path w="254000" h="41052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lnTo>
                    <a:pt x="254000" y="3978275"/>
                  </a:lnTo>
                  <a:cubicBezTo>
                    <a:pt x="254000" y="4048379"/>
                    <a:pt x="197104" y="4105275"/>
                    <a:pt x="127000" y="4105275"/>
                  </a:cubicBezTo>
                  <a:cubicBezTo>
                    <a:pt x="56896" y="4105275"/>
                    <a:pt x="0" y="4048379"/>
                    <a:pt x="0" y="3978275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743075" y="6475347"/>
            <a:ext cx="3450431" cy="4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Transparent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Pipeline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43075" y="6999237"/>
            <a:ext cx="4132812" cy="1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Maintain a </a:t>
            </a: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transparent, interpretable</a:t>
            </a: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pipeline with mathematical grounding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589662" y="6068463"/>
            <a:ext cx="5108524" cy="3126581"/>
            <a:chOff x="0" y="0"/>
            <a:chExt cx="6811366" cy="4168775"/>
          </a:xfrm>
        </p:grpSpPr>
        <p:sp>
          <p:nvSpPr>
            <p:cNvPr id="36" name="Freeform 36"/>
            <p:cNvSpPr/>
            <p:nvPr/>
          </p:nvSpPr>
          <p:spPr>
            <a:xfrm>
              <a:off x="31750" y="31750"/>
              <a:ext cx="6747891" cy="4105275"/>
            </a:xfrm>
            <a:custGeom>
              <a:avLst/>
              <a:gdLst/>
              <a:ahLst/>
              <a:cxnLst/>
              <a:rect l="l" t="t" r="r" b="b"/>
              <a:pathLst>
                <a:path w="6747891" h="4105275">
                  <a:moveTo>
                    <a:pt x="0" y="304800"/>
                  </a:moveTo>
                  <a:cubicBezTo>
                    <a:pt x="0" y="136398"/>
                    <a:pt x="137287" y="0"/>
                    <a:pt x="306705" y="0"/>
                  </a:cubicBezTo>
                  <a:lnTo>
                    <a:pt x="6441186" y="0"/>
                  </a:lnTo>
                  <a:cubicBezTo>
                    <a:pt x="6610604" y="0"/>
                    <a:pt x="6747891" y="136525"/>
                    <a:pt x="6747891" y="304800"/>
                  </a:cubicBezTo>
                  <a:lnTo>
                    <a:pt x="6747891" y="3800475"/>
                  </a:lnTo>
                  <a:cubicBezTo>
                    <a:pt x="6747891" y="3968877"/>
                    <a:pt x="6610604" y="4105275"/>
                    <a:pt x="6441186" y="4105275"/>
                  </a:cubicBezTo>
                  <a:lnTo>
                    <a:pt x="306705" y="4105275"/>
                  </a:lnTo>
                  <a:cubicBezTo>
                    <a:pt x="137287" y="4105275"/>
                    <a:pt x="0" y="3968750"/>
                    <a:pt x="0" y="3800475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6811391" cy="4168775"/>
            </a:xfrm>
            <a:custGeom>
              <a:avLst/>
              <a:gdLst/>
              <a:ahLst/>
              <a:cxnLst/>
              <a:rect l="l" t="t" r="r" b="b"/>
              <a:pathLst>
                <a:path w="6811391" h="4168775">
                  <a:moveTo>
                    <a:pt x="0" y="336550"/>
                  </a:moveTo>
                  <a:cubicBezTo>
                    <a:pt x="0" y="150495"/>
                    <a:pt x="151638" y="0"/>
                    <a:pt x="338455" y="0"/>
                  </a:cubicBezTo>
                  <a:lnTo>
                    <a:pt x="6472936" y="0"/>
                  </a:lnTo>
                  <a:lnTo>
                    <a:pt x="6472936" y="31750"/>
                  </a:lnTo>
                  <a:lnTo>
                    <a:pt x="6472936" y="0"/>
                  </a:lnTo>
                  <a:cubicBezTo>
                    <a:pt x="6659626" y="0"/>
                    <a:pt x="6811391" y="150495"/>
                    <a:pt x="6811391" y="336550"/>
                  </a:cubicBezTo>
                  <a:lnTo>
                    <a:pt x="6779641" y="336550"/>
                  </a:lnTo>
                  <a:lnTo>
                    <a:pt x="6811391" y="336550"/>
                  </a:lnTo>
                  <a:lnTo>
                    <a:pt x="6811391" y="3832225"/>
                  </a:lnTo>
                  <a:lnTo>
                    <a:pt x="6779641" y="3832225"/>
                  </a:lnTo>
                  <a:lnTo>
                    <a:pt x="6811391" y="3832225"/>
                  </a:lnTo>
                  <a:cubicBezTo>
                    <a:pt x="6811391" y="4018280"/>
                    <a:pt x="6659753" y="4168775"/>
                    <a:pt x="6472936" y="4168775"/>
                  </a:cubicBezTo>
                  <a:lnTo>
                    <a:pt x="6472936" y="4137025"/>
                  </a:lnTo>
                  <a:lnTo>
                    <a:pt x="6472936" y="4168775"/>
                  </a:lnTo>
                  <a:lnTo>
                    <a:pt x="338455" y="4168775"/>
                  </a:lnTo>
                  <a:lnTo>
                    <a:pt x="338455" y="4137025"/>
                  </a:lnTo>
                  <a:lnTo>
                    <a:pt x="338455" y="4168775"/>
                  </a:lnTo>
                  <a:cubicBezTo>
                    <a:pt x="151638" y="4168775"/>
                    <a:pt x="0" y="4018280"/>
                    <a:pt x="0" y="3832225"/>
                  </a:cubicBezTo>
                  <a:lnTo>
                    <a:pt x="0" y="336550"/>
                  </a:lnTo>
                  <a:lnTo>
                    <a:pt x="31750" y="336550"/>
                  </a:lnTo>
                  <a:lnTo>
                    <a:pt x="0" y="336550"/>
                  </a:lnTo>
                  <a:moveTo>
                    <a:pt x="63500" y="336550"/>
                  </a:moveTo>
                  <a:lnTo>
                    <a:pt x="63500" y="3832225"/>
                  </a:lnTo>
                  <a:lnTo>
                    <a:pt x="31750" y="3832225"/>
                  </a:lnTo>
                  <a:lnTo>
                    <a:pt x="63500" y="3832225"/>
                  </a:lnTo>
                  <a:cubicBezTo>
                    <a:pt x="63500" y="3982847"/>
                    <a:pt x="186436" y="4105275"/>
                    <a:pt x="338455" y="4105275"/>
                  </a:cubicBezTo>
                  <a:lnTo>
                    <a:pt x="6472936" y="4105275"/>
                  </a:lnTo>
                  <a:cubicBezTo>
                    <a:pt x="6624955" y="4105275"/>
                    <a:pt x="6747891" y="3982847"/>
                    <a:pt x="6747891" y="3832225"/>
                  </a:cubicBezTo>
                  <a:lnTo>
                    <a:pt x="6747891" y="336550"/>
                  </a:lnTo>
                  <a:cubicBezTo>
                    <a:pt x="6747891" y="185928"/>
                    <a:pt x="6624955" y="63500"/>
                    <a:pt x="6472936" y="63500"/>
                  </a:cubicBezTo>
                  <a:lnTo>
                    <a:pt x="338455" y="63500"/>
                  </a:lnTo>
                  <a:lnTo>
                    <a:pt x="338455" y="31750"/>
                  </a:lnTo>
                  <a:lnTo>
                    <a:pt x="338455" y="63500"/>
                  </a:lnTo>
                  <a:cubicBezTo>
                    <a:pt x="186436" y="63500"/>
                    <a:pt x="63500" y="185928"/>
                    <a:pt x="63500" y="33655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565849" y="6092276"/>
            <a:ext cx="190500" cy="3078956"/>
            <a:chOff x="0" y="0"/>
            <a:chExt cx="254000" cy="41052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4000" cy="4105275"/>
            </a:xfrm>
            <a:custGeom>
              <a:avLst/>
              <a:gdLst/>
              <a:ahLst/>
              <a:cxnLst/>
              <a:rect l="l" t="t" r="r" b="b"/>
              <a:pathLst>
                <a:path w="254000" h="41052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lnTo>
                    <a:pt x="254000" y="3978275"/>
                  </a:lnTo>
                  <a:cubicBezTo>
                    <a:pt x="254000" y="4048379"/>
                    <a:pt x="197104" y="4105275"/>
                    <a:pt x="127000" y="4105275"/>
                  </a:cubicBezTo>
                  <a:cubicBezTo>
                    <a:pt x="56896" y="4105275"/>
                    <a:pt x="0" y="4048379"/>
                    <a:pt x="0" y="3978275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7148960" y="6456312"/>
            <a:ext cx="3450431" cy="4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Small Dataset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48960" y="6999237"/>
            <a:ext cx="4132812" cy="104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Train on a </a:t>
            </a:r>
            <a:r>
              <a:rPr lang="en-US" sz="2687" dirty="0">
                <a:solidFill>
                  <a:srgbClr val="38383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small dataset of only 50 images</a:t>
            </a:r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2650EEFE-AFB0-8770-A946-7A8F1219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52400" y="9861203"/>
            <a:ext cx="105156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901751"/>
            <a:ext cx="4830661" cy="66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Dataset &amp; Annotation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07589" y="2006498"/>
            <a:ext cx="3620691" cy="3620691"/>
            <a:chOff x="0" y="0"/>
            <a:chExt cx="4827588" cy="482758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827651" cy="4827651"/>
            </a:xfrm>
            <a:custGeom>
              <a:avLst/>
              <a:gdLst/>
              <a:ahLst/>
              <a:cxnLst/>
              <a:rect l="l" t="t" r="r" b="b"/>
              <a:pathLst>
                <a:path w="4827651" h="4827651">
                  <a:moveTo>
                    <a:pt x="0" y="0"/>
                  </a:moveTo>
                  <a:lnTo>
                    <a:pt x="4827651" y="0"/>
                  </a:lnTo>
                  <a:lnTo>
                    <a:pt x="4827651" y="4827651"/>
                  </a:lnTo>
                  <a:lnTo>
                    <a:pt x="0" y="482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978701" y="2658961"/>
            <a:ext cx="2415330" cy="33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78701" y="3110808"/>
            <a:ext cx="10623499" cy="2305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2773" lvl="1" indent="-141387" algn="l">
              <a:lnSpc>
                <a:spcPts val="2562"/>
              </a:lnSpc>
              <a:buFont typeface="Arial"/>
              <a:buChar char="•"/>
            </a:pPr>
            <a:r>
              <a:rPr lang="en-US" sz="1874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50 RGB street-view images</a:t>
            </a: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with stop signs under varied conditions (lighting, viewpoints, occlusion, distances)</a:t>
            </a:r>
          </a:p>
          <a:p>
            <a:pPr marL="282773" lvl="1" indent="-141387" algn="l">
              <a:lnSpc>
                <a:spcPts val="2562"/>
              </a:lnSpc>
              <a:buFont typeface="Arial"/>
              <a:buChar char="•"/>
            </a:pP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Annotated using </a:t>
            </a:r>
            <a:r>
              <a:rPr lang="en-US" sz="1874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CVAT</a:t>
            </a: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(Computer Vision Annotation Tool) — bounding boxes exported as XML</a:t>
            </a:r>
          </a:p>
          <a:p>
            <a:pPr marL="282773" lvl="1" indent="-141387" algn="l">
              <a:lnSpc>
                <a:spcPts val="2562"/>
              </a:lnSpc>
              <a:buFont typeface="Arial"/>
              <a:buChar char="•"/>
            </a:pPr>
            <a:r>
              <a:rPr lang="en-US" sz="1874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Positive patches (y=1):</a:t>
            </a: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Each annotated box cropped and resized to 64×64</a:t>
            </a:r>
          </a:p>
          <a:p>
            <a:pPr marL="282773" lvl="1" indent="-141387" algn="l">
              <a:lnSpc>
                <a:spcPts val="2562"/>
              </a:lnSpc>
              <a:buFont typeface="Arial"/>
              <a:buChar char="•"/>
            </a:pPr>
            <a:r>
              <a:rPr lang="en-US" sz="1874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Negative patches (y=0):</a:t>
            </a: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Up to 15 random non-overlapping background windows per image → </a:t>
            </a:r>
            <a:r>
              <a:rPr lang="en-US" sz="1874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~750 negatives</a:t>
            </a:r>
          </a:p>
          <a:p>
            <a:pPr marL="282773" lvl="1" indent="-141387" algn="l">
              <a:lnSpc>
                <a:spcPts val="2562"/>
              </a:lnSpc>
              <a:buFont typeface="Arial"/>
              <a:buChar char="•"/>
            </a:pP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Class imbalance </a:t>
            </a:r>
            <a:r>
              <a:rPr lang="en-US" sz="1874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~15:1</a:t>
            </a: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1874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negatives:positives</a:t>
            </a:r>
            <a:r>
              <a:rPr lang="en-US" sz="18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) — intentional to mirror real sliding-window conditions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02827" y="6002836"/>
            <a:ext cx="15882347" cy="3329883"/>
            <a:chOff x="0" y="0"/>
            <a:chExt cx="21176463" cy="44398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176362" cy="4439793"/>
            </a:xfrm>
            <a:custGeom>
              <a:avLst/>
              <a:gdLst/>
              <a:ahLst/>
              <a:cxnLst/>
              <a:rect l="l" t="t" r="r" b="b"/>
              <a:pathLst>
                <a:path w="21176362" h="4439793">
                  <a:moveTo>
                    <a:pt x="0" y="141605"/>
                  </a:moveTo>
                  <a:cubicBezTo>
                    <a:pt x="0" y="63373"/>
                    <a:pt x="63500" y="0"/>
                    <a:pt x="141859" y="0"/>
                  </a:cubicBezTo>
                  <a:lnTo>
                    <a:pt x="21034502" y="0"/>
                  </a:lnTo>
                  <a:lnTo>
                    <a:pt x="21034502" y="6350"/>
                  </a:lnTo>
                  <a:lnTo>
                    <a:pt x="21034502" y="0"/>
                  </a:lnTo>
                  <a:cubicBezTo>
                    <a:pt x="21112862" y="0"/>
                    <a:pt x="21176362" y="63373"/>
                    <a:pt x="21176362" y="141605"/>
                  </a:cubicBezTo>
                  <a:lnTo>
                    <a:pt x="21170012" y="141605"/>
                  </a:lnTo>
                  <a:lnTo>
                    <a:pt x="21176362" y="141605"/>
                  </a:lnTo>
                  <a:lnTo>
                    <a:pt x="21176362" y="4298188"/>
                  </a:lnTo>
                  <a:lnTo>
                    <a:pt x="21170012" y="4298188"/>
                  </a:lnTo>
                  <a:lnTo>
                    <a:pt x="21176362" y="4298188"/>
                  </a:lnTo>
                  <a:cubicBezTo>
                    <a:pt x="21176362" y="4376420"/>
                    <a:pt x="21112862" y="4439793"/>
                    <a:pt x="21034502" y="4439793"/>
                  </a:cubicBezTo>
                  <a:lnTo>
                    <a:pt x="21034502" y="4433443"/>
                  </a:lnTo>
                  <a:lnTo>
                    <a:pt x="21034502" y="4439793"/>
                  </a:lnTo>
                  <a:lnTo>
                    <a:pt x="141859" y="4439793"/>
                  </a:lnTo>
                  <a:lnTo>
                    <a:pt x="141859" y="4433443"/>
                  </a:lnTo>
                  <a:lnTo>
                    <a:pt x="141859" y="4439793"/>
                  </a:lnTo>
                  <a:cubicBezTo>
                    <a:pt x="63500" y="4439793"/>
                    <a:pt x="0" y="4376420"/>
                    <a:pt x="0" y="4298188"/>
                  </a:cubicBezTo>
                  <a:lnTo>
                    <a:pt x="0" y="141605"/>
                  </a:lnTo>
                  <a:lnTo>
                    <a:pt x="6350" y="141605"/>
                  </a:lnTo>
                  <a:lnTo>
                    <a:pt x="0" y="141605"/>
                  </a:lnTo>
                  <a:moveTo>
                    <a:pt x="12700" y="141605"/>
                  </a:moveTo>
                  <a:lnTo>
                    <a:pt x="12700" y="4298188"/>
                  </a:lnTo>
                  <a:lnTo>
                    <a:pt x="6350" y="4298188"/>
                  </a:lnTo>
                  <a:lnTo>
                    <a:pt x="12700" y="4298188"/>
                  </a:lnTo>
                  <a:cubicBezTo>
                    <a:pt x="12700" y="4369308"/>
                    <a:pt x="70485" y="4427093"/>
                    <a:pt x="141859" y="4427093"/>
                  </a:cubicBezTo>
                  <a:lnTo>
                    <a:pt x="21034502" y="4427093"/>
                  </a:lnTo>
                  <a:cubicBezTo>
                    <a:pt x="21105876" y="4427093"/>
                    <a:pt x="21163662" y="4369308"/>
                    <a:pt x="21163662" y="4298188"/>
                  </a:cubicBezTo>
                  <a:lnTo>
                    <a:pt x="21163662" y="141605"/>
                  </a:lnTo>
                  <a:cubicBezTo>
                    <a:pt x="21163662" y="70485"/>
                    <a:pt x="21105876" y="12700"/>
                    <a:pt x="21034502" y="12700"/>
                  </a:cubicBezTo>
                  <a:lnTo>
                    <a:pt x="141859" y="12700"/>
                  </a:lnTo>
                  <a:lnTo>
                    <a:pt x="141859" y="6350"/>
                  </a:lnTo>
                  <a:lnTo>
                    <a:pt x="141859" y="12700"/>
                  </a:lnTo>
                  <a:cubicBezTo>
                    <a:pt x="70485" y="12700"/>
                    <a:pt x="12700" y="70485"/>
                    <a:pt x="12700" y="14160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17114" y="6017123"/>
            <a:ext cx="15853772" cy="550221"/>
            <a:chOff x="0" y="0"/>
            <a:chExt cx="21138363" cy="7336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138387" cy="733679"/>
            </a:xfrm>
            <a:custGeom>
              <a:avLst/>
              <a:gdLst/>
              <a:ahLst/>
              <a:cxnLst/>
              <a:rect l="l" t="t" r="r" b="b"/>
              <a:pathLst>
                <a:path w="21138387" h="733679">
                  <a:moveTo>
                    <a:pt x="0" y="0"/>
                  </a:moveTo>
                  <a:lnTo>
                    <a:pt x="21138387" y="0"/>
                  </a:lnTo>
                  <a:lnTo>
                    <a:pt x="21138387" y="733679"/>
                  </a:lnTo>
                  <a:lnTo>
                    <a:pt x="0" y="73367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458516" y="6070844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Parameter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0164" y="6070844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Value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7114" y="6567335"/>
            <a:ext cx="15853772" cy="550221"/>
            <a:chOff x="0" y="0"/>
            <a:chExt cx="21138363" cy="7336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38387" cy="733679"/>
            </a:xfrm>
            <a:custGeom>
              <a:avLst/>
              <a:gdLst/>
              <a:ahLst/>
              <a:cxnLst/>
              <a:rect l="l" t="t" r="r" b="b"/>
              <a:pathLst>
                <a:path w="21138387" h="733679">
                  <a:moveTo>
                    <a:pt x="0" y="0"/>
                  </a:moveTo>
                  <a:lnTo>
                    <a:pt x="21138387" y="0"/>
                  </a:lnTo>
                  <a:lnTo>
                    <a:pt x="21138387" y="733679"/>
                  </a:lnTo>
                  <a:lnTo>
                    <a:pt x="0" y="733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458516" y="6621066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Total images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0164" y="6621066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50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17114" y="7117556"/>
            <a:ext cx="15853772" cy="550221"/>
            <a:chOff x="0" y="0"/>
            <a:chExt cx="21138363" cy="7336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138387" cy="733679"/>
            </a:xfrm>
            <a:custGeom>
              <a:avLst/>
              <a:gdLst/>
              <a:ahLst/>
              <a:cxnLst/>
              <a:rect l="l" t="t" r="r" b="b"/>
              <a:pathLst>
                <a:path w="21138387" h="733679">
                  <a:moveTo>
                    <a:pt x="0" y="0"/>
                  </a:moveTo>
                  <a:lnTo>
                    <a:pt x="21138387" y="0"/>
                  </a:lnTo>
                  <a:lnTo>
                    <a:pt x="21138387" y="733679"/>
                  </a:lnTo>
                  <a:lnTo>
                    <a:pt x="0" y="73367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458516" y="7171287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Patch size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0164" y="7171287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64×64 px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17114" y="7667777"/>
            <a:ext cx="15853772" cy="550221"/>
            <a:chOff x="0" y="0"/>
            <a:chExt cx="21138363" cy="7336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138387" cy="733679"/>
            </a:xfrm>
            <a:custGeom>
              <a:avLst/>
              <a:gdLst/>
              <a:ahLst/>
              <a:cxnLst/>
              <a:rect l="l" t="t" r="r" b="b"/>
              <a:pathLst>
                <a:path w="21138387" h="733679">
                  <a:moveTo>
                    <a:pt x="0" y="0"/>
                  </a:moveTo>
                  <a:lnTo>
                    <a:pt x="21138387" y="0"/>
                  </a:lnTo>
                  <a:lnTo>
                    <a:pt x="21138387" y="733679"/>
                  </a:lnTo>
                  <a:lnTo>
                    <a:pt x="0" y="733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458516" y="7721498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Positive patches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0164" y="7721498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~57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7114" y="8217989"/>
            <a:ext cx="15853772" cy="550221"/>
            <a:chOff x="0" y="0"/>
            <a:chExt cx="21138363" cy="7336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138387" cy="733679"/>
            </a:xfrm>
            <a:custGeom>
              <a:avLst/>
              <a:gdLst/>
              <a:ahLst/>
              <a:cxnLst/>
              <a:rect l="l" t="t" r="r" b="b"/>
              <a:pathLst>
                <a:path w="21138387" h="733679">
                  <a:moveTo>
                    <a:pt x="0" y="0"/>
                  </a:moveTo>
                  <a:lnTo>
                    <a:pt x="21138387" y="0"/>
                  </a:lnTo>
                  <a:lnTo>
                    <a:pt x="21138387" y="733679"/>
                  </a:lnTo>
                  <a:lnTo>
                    <a:pt x="0" y="73367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58516" y="8271720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Negative patches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90164" y="8271720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~750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17114" y="8768210"/>
            <a:ext cx="15853772" cy="550221"/>
            <a:chOff x="0" y="0"/>
            <a:chExt cx="21138363" cy="73362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138387" cy="733679"/>
            </a:xfrm>
            <a:custGeom>
              <a:avLst/>
              <a:gdLst/>
              <a:ahLst/>
              <a:cxnLst/>
              <a:rect l="l" t="t" r="r" b="b"/>
              <a:pathLst>
                <a:path w="21138387" h="733679">
                  <a:moveTo>
                    <a:pt x="0" y="0"/>
                  </a:moveTo>
                  <a:lnTo>
                    <a:pt x="21138387" y="0"/>
                  </a:lnTo>
                  <a:lnTo>
                    <a:pt x="21138387" y="733679"/>
                  </a:lnTo>
                  <a:lnTo>
                    <a:pt x="0" y="733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458516" y="8821941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Train / Test split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90164" y="8821941"/>
            <a:ext cx="7439320" cy="3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80% / 20% (stratified)</a:t>
            </a: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BBB7FDAC-65AF-8D57-2614-16E3D575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45308" y="9856255"/>
            <a:ext cx="11246967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92143" y="595750"/>
            <a:ext cx="5453770" cy="489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HOG Feature Extraction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3234" y="1644253"/>
            <a:ext cx="16061531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HOG represents local shape by the distribution of gradient orientations in localized image regions.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084712" y="2076602"/>
            <a:ext cx="8118577" cy="3715493"/>
            <a:chOff x="0" y="0"/>
            <a:chExt cx="10824769" cy="495399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824718" cy="4954016"/>
            </a:xfrm>
            <a:custGeom>
              <a:avLst/>
              <a:gdLst/>
              <a:ahLst/>
              <a:cxnLst/>
              <a:rect l="l" t="t" r="r" b="b"/>
              <a:pathLst>
                <a:path w="10824718" h="4954016">
                  <a:moveTo>
                    <a:pt x="0" y="0"/>
                  </a:moveTo>
                  <a:lnTo>
                    <a:pt x="10824718" y="0"/>
                  </a:lnTo>
                  <a:lnTo>
                    <a:pt x="10824718" y="4954016"/>
                  </a:lnTo>
                  <a:lnTo>
                    <a:pt x="0" y="4954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" b="-9"/>
              </a:stretch>
            </a:blipFill>
          </p:spPr>
        </p:sp>
      </p:grpSp>
      <p:sp>
        <p:nvSpPr>
          <p:cNvPr id="10" name="Freeform 10" descr="preencoded.png"/>
          <p:cNvSpPr/>
          <p:nvPr/>
        </p:nvSpPr>
        <p:spPr>
          <a:xfrm>
            <a:off x="11766118" y="3004261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0" y="0"/>
                </a:moveTo>
                <a:lnTo>
                  <a:pt x="521970" y="0"/>
                </a:lnTo>
                <a:lnTo>
                  <a:pt x="521970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8" r="-90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301079" y="4920091"/>
            <a:ext cx="1524162" cy="25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Square‑Root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855222" y="300523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0" y="0"/>
                </a:moveTo>
                <a:lnTo>
                  <a:pt x="521970" y="0"/>
                </a:lnTo>
                <a:lnTo>
                  <a:pt x="521970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454" b="-545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380220" y="4920091"/>
            <a:ext cx="1524152" cy="25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L2‑Hys Normalize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7944803" y="300523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0" y="0"/>
                </a:moveTo>
                <a:lnTo>
                  <a:pt x="521969" y="0"/>
                </a:lnTo>
                <a:lnTo>
                  <a:pt x="521969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469810" y="4920091"/>
            <a:ext cx="1524162" cy="25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9‑Bin Histogram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6023943" y="300523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0" y="0"/>
                </a:moveTo>
                <a:lnTo>
                  <a:pt x="521970" y="0"/>
                </a:lnTo>
                <a:lnTo>
                  <a:pt x="521970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08" r="-90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517632" y="4920091"/>
            <a:ext cx="1524152" cy="25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2"/>
              </a:lnSpc>
            </a:pPr>
            <a:r>
              <a:rPr lang="en-US" sz="1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Gradient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3234" y="5902823"/>
            <a:ext cx="16061531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four steps above transform raw pixel patches into a compact, illumination-robust descriptor optimized for object detection.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08472" y="6330401"/>
            <a:ext cx="16071056" cy="3052915"/>
            <a:chOff x="0" y="0"/>
            <a:chExt cx="21428075" cy="40705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28075" cy="4070604"/>
            </a:xfrm>
            <a:custGeom>
              <a:avLst/>
              <a:gdLst/>
              <a:ahLst/>
              <a:cxnLst/>
              <a:rect l="l" t="t" r="r" b="b"/>
              <a:pathLst>
                <a:path w="21428075" h="4070604">
                  <a:moveTo>
                    <a:pt x="0" y="122174"/>
                  </a:moveTo>
                  <a:cubicBezTo>
                    <a:pt x="0" y="54610"/>
                    <a:pt x="54864" y="0"/>
                    <a:pt x="122428" y="0"/>
                  </a:cubicBezTo>
                  <a:lnTo>
                    <a:pt x="21305647" y="0"/>
                  </a:lnTo>
                  <a:lnTo>
                    <a:pt x="21305647" y="6350"/>
                  </a:lnTo>
                  <a:lnTo>
                    <a:pt x="21305647" y="0"/>
                  </a:lnTo>
                  <a:cubicBezTo>
                    <a:pt x="21373210" y="0"/>
                    <a:pt x="21428075" y="54610"/>
                    <a:pt x="21428075" y="122174"/>
                  </a:cubicBezTo>
                  <a:lnTo>
                    <a:pt x="21421725" y="122174"/>
                  </a:lnTo>
                  <a:lnTo>
                    <a:pt x="21428075" y="122174"/>
                  </a:lnTo>
                  <a:lnTo>
                    <a:pt x="21428075" y="3948430"/>
                  </a:lnTo>
                  <a:lnTo>
                    <a:pt x="21421725" y="3948430"/>
                  </a:lnTo>
                  <a:lnTo>
                    <a:pt x="21428075" y="3948430"/>
                  </a:lnTo>
                  <a:cubicBezTo>
                    <a:pt x="21428075" y="4015867"/>
                    <a:pt x="21373210" y="4070604"/>
                    <a:pt x="21305647" y="4070604"/>
                  </a:cubicBezTo>
                  <a:lnTo>
                    <a:pt x="21305647" y="4064254"/>
                  </a:lnTo>
                  <a:lnTo>
                    <a:pt x="21305647" y="4070604"/>
                  </a:lnTo>
                  <a:lnTo>
                    <a:pt x="122428" y="4070604"/>
                  </a:lnTo>
                  <a:lnTo>
                    <a:pt x="122428" y="4064254"/>
                  </a:lnTo>
                  <a:lnTo>
                    <a:pt x="122428" y="4070604"/>
                  </a:lnTo>
                  <a:cubicBezTo>
                    <a:pt x="54864" y="4070604"/>
                    <a:pt x="0" y="4015994"/>
                    <a:pt x="0" y="3948430"/>
                  </a:cubicBezTo>
                  <a:lnTo>
                    <a:pt x="0" y="122174"/>
                  </a:lnTo>
                  <a:lnTo>
                    <a:pt x="6350" y="122174"/>
                  </a:lnTo>
                  <a:lnTo>
                    <a:pt x="0" y="122174"/>
                  </a:lnTo>
                  <a:moveTo>
                    <a:pt x="12700" y="122174"/>
                  </a:moveTo>
                  <a:lnTo>
                    <a:pt x="12700" y="3948430"/>
                  </a:lnTo>
                  <a:lnTo>
                    <a:pt x="6350" y="3948430"/>
                  </a:lnTo>
                  <a:lnTo>
                    <a:pt x="12700" y="3948430"/>
                  </a:lnTo>
                  <a:cubicBezTo>
                    <a:pt x="12700" y="4008882"/>
                    <a:pt x="61849" y="4057904"/>
                    <a:pt x="122428" y="4057904"/>
                  </a:cubicBezTo>
                  <a:lnTo>
                    <a:pt x="21305647" y="4057904"/>
                  </a:lnTo>
                  <a:cubicBezTo>
                    <a:pt x="21366226" y="4057904"/>
                    <a:pt x="21415375" y="4008882"/>
                    <a:pt x="21415375" y="3948430"/>
                  </a:cubicBezTo>
                  <a:lnTo>
                    <a:pt x="21415375" y="122174"/>
                  </a:lnTo>
                  <a:cubicBezTo>
                    <a:pt x="21415375" y="61722"/>
                    <a:pt x="21366226" y="12700"/>
                    <a:pt x="21305647" y="12700"/>
                  </a:cubicBezTo>
                  <a:lnTo>
                    <a:pt x="122428" y="12700"/>
                  </a:lnTo>
                  <a:lnTo>
                    <a:pt x="122428" y="6350"/>
                  </a:lnTo>
                  <a:lnTo>
                    <a:pt x="122428" y="12700"/>
                  </a:lnTo>
                  <a:cubicBezTo>
                    <a:pt x="61849" y="12700"/>
                    <a:pt x="12700" y="61722"/>
                    <a:pt x="12700" y="122174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22759" y="6344688"/>
            <a:ext cx="16042481" cy="432044"/>
            <a:chOff x="0" y="0"/>
            <a:chExt cx="21389975" cy="5760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329480" y="6399905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Parameter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5484" y="6399905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Value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22759" y="6776742"/>
            <a:ext cx="16042481" cy="432044"/>
            <a:chOff x="0" y="0"/>
            <a:chExt cx="21389975" cy="5760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9480" y="6831959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Input patch size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55484" y="6831959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64×64 px (grayscale)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22759" y="7208787"/>
            <a:ext cx="16042481" cy="432044"/>
            <a:chOff x="0" y="0"/>
            <a:chExt cx="21389975" cy="57605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329480" y="7264003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Orientations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55484" y="7264003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22759" y="7640841"/>
            <a:ext cx="16042481" cy="432044"/>
            <a:chOff x="0" y="0"/>
            <a:chExt cx="21389975" cy="5760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329480" y="7696048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Pixels per cell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55484" y="7696048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8×8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22759" y="8072885"/>
            <a:ext cx="16042481" cy="432044"/>
            <a:chOff x="0" y="0"/>
            <a:chExt cx="21389975" cy="5760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329480" y="8128102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Cells per block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55484" y="8128102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2×2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22759" y="8504930"/>
            <a:ext cx="16042481" cy="432044"/>
            <a:chOff x="0" y="0"/>
            <a:chExt cx="21389975" cy="5760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329480" y="8560146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Block normalization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55484" y="8560146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L2-Hys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22759" y="8936984"/>
            <a:ext cx="16042481" cy="432044"/>
            <a:chOff x="0" y="0"/>
            <a:chExt cx="21389975" cy="57605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389975" cy="576072"/>
            </a:xfrm>
            <a:custGeom>
              <a:avLst/>
              <a:gdLst/>
              <a:ahLst/>
              <a:cxnLst/>
              <a:rect l="l" t="t" r="r" b="b"/>
              <a:pathLst>
                <a:path w="21389975" h="576072">
                  <a:moveTo>
                    <a:pt x="0" y="0"/>
                  </a:moveTo>
                  <a:lnTo>
                    <a:pt x="21389975" y="0"/>
                  </a:lnTo>
                  <a:lnTo>
                    <a:pt x="21389975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329480" y="8992191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Feature vector length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55484" y="8992191"/>
            <a:ext cx="7603036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1764 dimensions</a:t>
            </a: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74D96367-83D9-BD3B-2162-44F11BCF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73088" y="9857404"/>
            <a:ext cx="105156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442885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SVM Classifier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928785"/>
            <a:ext cx="15872822" cy="67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LinearSVC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finds the maximum-margin hyperplane separating stop signs from backgrounds.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4309024"/>
            <a:ext cx="3450431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Why Linear Kernel?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4989909"/>
            <a:ext cx="7515520" cy="367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HOG features are approximately linearly separable (confirmed by Dalal &amp; Triggs)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Faster training — linear vs. quadratic/cubic for kernel SVMs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Weight vector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w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is spatially interpretable (visualizable HOG template)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26013" y="3992613"/>
            <a:ext cx="8012316" cy="4794352"/>
            <a:chOff x="0" y="0"/>
            <a:chExt cx="10683088" cy="6392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82986" cy="6392418"/>
            </a:xfrm>
            <a:custGeom>
              <a:avLst/>
              <a:gdLst/>
              <a:ahLst/>
              <a:cxnLst/>
              <a:rect l="l" t="t" r="r" b="b"/>
              <a:pathLst>
                <a:path w="10682986" h="6392418">
                  <a:moveTo>
                    <a:pt x="0" y="331216"/>
                  </a:moveTo>
                  <a:cubicBezTo>
                    <a:pt x="0" y="148336"/>
                    <a:pt x="148336" y="0"/>
                    <a:pt x="331216" y="0"/>
                  </a:cubicBezTo>
                  <a:lnTo>
                    <a:pt x="10351770" y="0"/>
                  </a:lnTo>
                  <a:cubicBezTo>
                    <a:pt x="10534776" y="0"/>
                    <a:pt x="10682986" y="148336"/>
                    <a:pt x="10682986" y="331216"/>
                  </a:cubicBezTo>
                  <a:lnTo>
                    <a:pt x="10682986" y="6061202"/>
                  </a:lnTo>
                  <a:cubicBezTo>
                    <a:pt x="10682986" y="6244209"/>
                    <a:pt x="10534650" y="6392418"/>
                    <a:pt x="10351770" y="6392418"/>
                  </a:cubicBezTo>
                  <a:lnTo>
                    <a:pt x="331216" y="6392418"/>
                  </a:lnTo>
                  <a:cubicBezTo>
                    <a:pt x="148336" y="6392418"/>
                    <a:pt x="0" y="6244209"/>
                    <a:pt x="0" y="6061202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670999" y="4309024"/>
            <a:ext cx="3450431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Training Details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70999" y="4989909"/>
            <a:ext cx="7322344" cy="336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 = 1.0 (default regularization)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max_iter = 10000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Stratified 80/20 train/test split (random_state=42)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Training set: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645 samples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| Test set: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162 samples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Model saved via joblib → stop_sign_svm.pkl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06C8D15-0185-4150-CD42-ED4AB34D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63851" y="9921875"/>
            <a:ext cx="100584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927497"/>
            <a:ext cx="5520776" cy="7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Detection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021091"/>
            <a:ext cx="15872822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Image Pyramid + Sliding Window + NMS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2827" y="2728912"/>
            <a:ext cx="5153320" cy="2250434"/>
            <a:chOff x="0" y="0"/>
            <a:chExt cx="6871094" cy="3000578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6858381" cy="2987802"/>
            </a:xfrm>
            <a:custGeom>
              <a:avLst/>
              <a:gdLst/>
              <a:ahLst/>
              <a:cxnLst/>
              <a:rect l="l" t="t" r="r" b="b"/>
              <a:pathLst>
                <a:path w="6858381" h="2987802">
                  <a:moveTo>
                    <a:pt x="0" y="154559"/>
                  </a:moveTo>
                  <a:cubicBezTo>
                    <a:pt x="0" y="69215"/>
                    <a:pt x="69342" y="0"/>
                    <a:pt x="154940" y="0"/>
                  </a:cubicBezTo>
                  <a:lnTo>
                    <a:pt x="6703441" y="0"/>
                  </a:lnTo>
                  <a:cubicBezTo>
                    <a:pt x="6789039" y="0"/>
                    <a:pt x="6858381" y="69215"/>
                    <a:pt x="6858381" y="154559"/>
                  </a:cubicBezTo>
                  <a:lnTo>
                    <a:pt x="6858381" y="2833243"/>
                  </a:lnTo>
                  <a:cubicBezTo>
                    <a:pt x="6858381" y="2918587"/>
                    <a:pt x="6789039" y="2987802"/>
                    <a:pt x="6703441" y="2987802"/>
                  </a:cubicBezTo>
                  <a:lnTo>
                    <a:pt x="154940" y="2987802"/>
                  </a:lnTo>
                  <a:cubicBezTo>
                    <a:pt x="69342" y="2987802"/>
                    <a:pt x="0" y="2918587"/>
                    <a:pt x="0" y="2833243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871081" cy="3000502"/>
            </a:xfrm>
            <a:custGeom>
              <a:avLst/>
              <a:gdLst/>
              <a:ahLst/>
              <a:cxnLst/>
              <a:rect l="l" t="t" r="r" b="b"/>
              <a:pathLst>
                <a:path w="6871081" h="3000502">
                  <a:moveTo>
                    <a:pt x="0" y="160909"/>
                  </a:moveTo>
                  <a:cubicBezTo>
                    <a:pt x="0" y="72009"/>
                    <a:pt x="72263" y="0"/>
                    <a:pt x="161290" y="0"/>
                  </a:cubicBezTo>
                  <a:lnTo>
                    <a:pt x="6709791" y="0"/>
                  </a:lnTo>
                  <a:lnTo>
                    <a:pt x="6709791" y="6350"/>
                  </a:lnTo>
                  <a:lnTo>
                    <a:pt x="6709791" y="0"/>
                  </a:lnTo>
                  <a:cubicBezTo>
                    <a:pt x="6798818" y="0"/>
                    <a:pt x="6871081" y="72009"/>
                    <a:pt x="6871081" y="160909"/>
                  </a:cubicBezTo>
                  <a:lnTo>
                    <a:pt x="6864731" y="160909"/>
                  </a:lnTo>
                  <a:lnTo>
                    <a:pt x="6871081" y="160909"/>
                  </a:lnTo>
                  <a:lnTo>
                    <a:pt x="6871081" y="2839593"/>
                  </a:lnTo>
                  <a:lnTo>
                    <a:pt x="6864731" y="2839593"/>
                  </a:lnTo>
                  <a:lnTo>
                    <a:pt x="6871081" y="2839593"/>
                  </a:lnTo>
                  <a:cubicBezTo>
                    <a:pt x="6871081" y="2928493"/>
                    <a:pt x="6798818" y="3000502"/>
                    <a:pt x="6709791" y="3000502"/>
                  </a:cubicBezTo>
                  <a:lnTo>
                    <a:pt x="6709791" y="2994152"/>
                  </a:lnTo>
                  <a:lnTo>
                    <a:pt x="6709791" y="3000502"/>
                  </a:lnTo>
                  <a:lnTo>
                    <a:pt x="161290" y="3000502"/>
                  </a:lnTo>
                  <a:lnTo>
                    <a:pt x="161290" y="2994152"/>
                  </a:lnTo>
                  <a:lnTo>
                    <a:pt x="161290" y="3000502"/>
                  </a:lnTo>
                  <a:cubicBezTo>
                    <a:pt x="72263" y="3000502"/>
                    <a:pt x="0" y="2928493"/>
                    <a:pt x="0" y="2839593"/>
                  </a:cubicBezTo>
                  <a:lnTo>
                    <a:pt x="0" y="160909"/>
                  </a:lnTo>
                  <a:lnTo>
                    <a:pt x="6350" y="160909"/>
                  </a:lnTo>
                  <a:lnTo>
                    <a:pt x="0" y="160909"/>
                  </a:lnTo>
                  <a:moveTo>
                    <a:pt x="12700" y="160909"/>
                  </a:moveTo>
                  <a:lnTo>
                    <a:pt x="12700" y="2839593"/>
                  </a:lnTo>
                  <a:lnTo>
                    <a:pt x="6350" y="2839593"/>
                  </a:lnTo>
                  <a:lnTo>
                    <a:pt x="12700" y="2839593"/>
                  </a:lnTo>
                  <a:cubicBezTo>
                    <a:pt x="12700" y="2921508"/>
                    <a:pt x="79248" y="2987802"/>
                    <a:pt x="161290" y="2987802"/>
                  </a:cubicBezTo>
                  <a:lnTo>
                    <a:pt x="6709791" y="2987802"/>
                  </a:lnTo>
                  <a:cubicBezTo>
                    <a:pt x="6791833" y="2987802"/>
                    <a:pt x="6858381" y="2921381"/>
                    <a:pt x="6858381" y="2839593"/>
                  </a:cubicBezTo>
                  <a:lnTo>
                    <a:pt x="6858381" y="160909"/>
                  </a:lnTo>
                  <a:cubicBezTo>
                    <a:pt x="6858381" y="78994"/>
                    <a:pt x="6791833" y="12700"/>
                    <a:pt x="6709791" y="12700"/>
                  </a:cubicBezTo>
                  <a:lnTo>
                    <a:pt x="161290" y="12700"/>
                  </a:lnTo>
                  <a:lnTo>
                    <a:pt x="161290" y="6350"/>
                  </a:lnTo>
                  <a:lnTo>
                    <a:pt x="161290" y="12700"/>
                  </a:lnTo>
                  <a:cubicBezTo>
                    <a:pt x="79248" y="12700"/>
                    <a:pt x="12700" y="79121"/>
                    <a:pt x="12700" y="160909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493044" y="3000080"/>
            <a:ext cx="2760316" cy="36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Image Pyramid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3044" y="3429895"/>
            <a:ext cx="4572895" cy="125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Test image repeatedly downscaled by factor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1.25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until smaller than 64×64. Detections scaled back to original coordinates.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67335" y="2728912"/>
            <a:ext cx="5153320" cy="2250434"/>
            <a:chOff x="0" y="0"/>
            <a:chExt cx="6871094" cy="3000578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6858381" cy="2987802"/>
            </a:xfrm>
            <a:custGeom>
              <a:avLst/>
              <a:gdLst/>
              <a:ahLst/>
              <a:cxnLst/>
              <a:rect l="l" t="t" r="r" b="b"/>
              <a:pathLst>
                <a:path w="6858381" h="2987802">
                  <a:moveTo>
                    <a:pt x="0" y="154559"/>
                  </a:moveTo>
                  <a:cubicBezTo>
                    <a:pt x="0" y="69215"/>
                    <a:pt x="69342" y="0"/>
                    <a:pt x="154940" y="0"/>
                  </a:cubicBezTo>
                  <a:lnTo>
                    <a:pt x="6703441" y="0"/>
                  </a:lnTo>
                  <a:cubicBezTo>
                    <a:pt x="6789039" y="0"/>
                    <a:pt x="6858381" y="69215"/>
                    <a:pt x="6858381" y="154559"/>
                  </a:cubicBezTo>
                  <a:lnTo>
                    <a:pt x="6858381" y="2833243"/>
                  </a:lnTo>
                  <a:cubicBezTo>
                    <a:pt x="6858381" y="2918587"/>
                    <a:pt x="6789039" y="2987802"/>
                    <a:pt x="6703441" y="2987802"/>
                  </a:cubicBezTo>
                  <a:lnTo>
                    <a:pt x="154940" y="2987802"/>
                  </a:lnTo>
                  <a:cubicBezTo>
                    <a:pt x="69342" y="2987802"/>
                    <a:pt x="0" y="2918587"/>
                    <a:pt x="0" y="2833243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871081" cy="3000502"/>
            </a:xfrm>
            <a:custGeom>
              <a:avLst/>
              <a:gdLst/>
              <a:ahLst/>
              <a:cxnLst/>
              <a:rect l="l" t="t" r="r" b="b"/>
              <a:pathLst>
                <a:path w="6871081" h="3000502">
                  <a:moveTo>
                    <a:pt x="0" y="160909"/>
                  </a:moveTo>
                  <a:cubicBezTo>
                    <a:pt x="0" y="72009"/>
                    <a:pt x="72263" y="0"/>
                    <a:pt x="161290" y="0"/>
                  </a:cubicBezTo>
                  <a:lnTo>
                    <a:pt x="6709791" y="0"/>
                  </a:lnTo>
                  <a:lnTo>
                    <a:pt x="6709791" y="6350"/>
                  </a:lnTo>
                  <a:lnTo>
                    <a:pt x="6709791" y="0"/>
                  </a:lnTo>
                  <a:cubicBezTo>
                    <a:pt x="6798818" y="0"/>
                    <a:pt x="6871081" y="72009"/>
                    <a:pt x="6871081" y="160909"/>
                  </a:cubicBezTo>
                  <a:lnTo>
                    <a:pt x="6864731" y="160909"/>
                  </a:lnTo>
                  <a:lnTo>
                    <a:pt x="6871081" y="160909"/>
                  </a:lnTo>
                  <a:lnTo>
                    <a:pt x="6871081" y="2839593"/>
                  </a:lnTo>
                  <a:lnTo>
                    <a:pt x="6864731" y="2839593"/>
                  </a:lnTo>
                  <a:lnTo>
                    <a:pt x="6871081" y="2839593"/>
                  </a:lnTo>
                  <a:cubicBezTo>
                    <a:pt x="6871081" y="2928493"/>
                    <a:pt x="6798818" y="3000502"/>
                    <a:pt x="6709791" y="3000502"/>
                  </a:cubicBezTo>
                  <a:lnTo>
                    <a:pt x="6709791" y="2994152"/>
                  </a:lnTo>
                  <a:lnTo>
                    <a:pt x="6709791" y="3000502"/>
                  </a:lnTo>
                  <a:lnTo>
                    <a:pt x="161290" y="3000502"/>
                  </a:lnTo>
                  <a:lnTo>
                    <a:pt x="161290" y="2994152"/>
                  </a:lnTo>
                  <a:lnTo>
                    <a:pt x="161290" y="3000502"/>
                  </a:lnTo>
                  <a:cubicBezTo>
                    <a:pt x="72263" y="3000502"/>
                    <a:pt x="0" y="2928493"/>
                    <a:pt x="0" y="2839593"/>
                  </a:cubicBezTo>
                  <a:lnTo>
                    <a:pt x="0" y="160909"/>
                  </a:lnTo>
                  <a:lnTo>
                    <a:pt x="6350" y="160909"/>
                  </a:lnTo>
                  <a:lnTo>
                    <a:pt x="0" y="160909"/>
                  </a:lnTo>
                  <a:moveTo>
                    <a:pt x="12700" y="160909"/>
                  </a:moveTo>
                  <a:lnTo>
                    <a:pt x="12700" y="2839593"/>
                  </a:lnTo>
                  <a:lnTo>
                    <a:pt x="6350" y="2839593"/>
                  </a:lnTo>
                  <a:lnTo>
                    <a:pt x="12700" y="2839593"/>
                  </a:lnTo>
                  <a:cubicBezTo>
                    <a:pt x="12700" y="2921508"/>
                    <a:pt x="79248" y="2987802"/>
                    <a:pt x="161290" y="2987802"/>
                  </a:cubicBezTo>
                  <a:lnTo>
                    <a:pt x="6709791" y="2987802"/>
                  </a:lnTo>
                  <a:cubicBezTo>
                    <a:pt x="6791833" y="2987802"/>
                    <a:pt x="6858381" y="2921381"/>
                    <a:pt x="6858381" y="2839593"/>
                  </a:cubicBezTo>
                  <a:lnTo>
                    <a:pt x="6858381" y="160909"/>
                  </a:lnTo>
                  <a:cubicBezTo>
                    <a:pt x="6858381" y="78994"/>
                    <a:pt x="6791833" y="12700"/>
                    <a:pt x="6709791" y="12700"/>
                  </a:cubicBezTo>
                  <a:lnTo>
                    <a:pt x="161290" y="12700"/>
                  </a:lnTo>
                  <a:lnTo>
                    <a:pt x="161290" y="6350"/>
                  </a:lnTo>
                  <a:lnTo>
                    <a:pt x="161290" y="12700"/>
                  </a:lnTo>
                  <a:cubicBezTo>
                    <a:pt x="79248" y="12700"/>
                    <a:pt x="12700" y="79121"/>
                    <a:pt x="12700" y="160909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857552" y="3000080"/>
            <a:ext cx="2760316" cy="36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Sliding Window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57552" y="3429895"/>
            <a:ext cx="4572895" cy="125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64×64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window sweeps the image with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step size = 16 pixels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 HOG extracted at every position → SVM score computed.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31853" y="2728912"/>
            <a:ext cx="5153320" cy="2250434"/>
            <a:chOff x="0" y="0"/>
            <a:chExt cx="6871094" cy="3000578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6858381" cy="2987802"/>
            </a:xfrm>
            <a:custGeom>
              <a:avLst/>
              <a:gdLst/>
              <a:ahLst/>
              <a:cxnLst/>
              <a:rect l="l" t="t" r="r" b="b"/>
              <a:pathLst>
                <a:path w="6858381" h="2987802">
                  <a:moveTo>
                    <a:pt x="0" y="154559"/>
                  </a:moveTo>
                  <a:cubicBezTo>
                    <a:pt x="0" y="69215"/>
                    <a:pt x="69342" y="0"/>
                    <a:pt x="154940" y="0"/>
                  </a:cubicBezTo>
                  <a:lnTo>
                    <a:pt x="6703441" y="0"/>
                  </a:lnTo>
                  <a:cubicBezTo>
                    <a:pt x="6789039" y="0"/>
                    <a:pt x="6858381" y="69215"/>
                    <a:pt x="6858381" y="154559"/>
                  </a:cubicBezTo>
                  <a:lnTo>
                    <a:pt x="6858381" y="2833243"/>
                  </a:lnTo>
                  <a:cubicBezTo>
                    <a:pt x="6858381" y="2918587"/>
                    <a:pt x="6789039" y="2987802"/>
                    <a:pt x="6703441" y="2987802"/>
                  </a:cubicBezTo>
                  <a:lnTo>
                    <a:pt x="154940" y="2987802"/>
                  </a:lnTo>
                  <a:cubicBezTo>
                    <a:pt x="69342" y="2987802"/>
                    <a:pt x="0" y="2918587"/>
                    <a:pt x="0" y="2833243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6871081" cy="3000502"/>
            </a:xfrm>
            <a:custGeom>
              <a:avLst/>
              <a:gdLst/>
              <a:ahLst/>
              <a:cxnLst/>
              <a:rect l="l" t="t" r="r" b="b"/>
              <a:pathLst>
                <a:path w="6871081" h="3000502">
                  <a:moveTo>
                    <a:pt x="0" y="160909"/>
                  </a:moveTo>
                  <a:cubicBezTo>
                    <a:pt x="0" y="72009"/>
                    <a:pt x="72263" y="0"/>
                    <a:pt x="161290" y="0"/>
                  </a:cubicBezTo>
                  <a:lnTo>
                    <a:pt x="6709791" y="0"/>
                  </a:lnTo>
                  <a:lnTo>
                    <a:pt x="6709791" y="6350"/>
                  </a:lnTo>
                  <a:lnTo>
                    <a:pt x="6709791" y="0"/>
                  </a:lnTo>
                  <a:cubicBezTo>
                    <a:pt x="6798818" y="0"/>
                    <a:pt x="6871081" y="72009"/>
                    <a:pt x="6871081" y="160909"/>
                  </a:cubicBezTo>
                  <a:lnTo>
                    <a:pt x="6864731" y="160909"/>
                  </a:lnTo>
                  <a:lnTo>
                    <a:pt x="6871081" y="160909"/>
                  </a:lnTo>
                  <a:lnTo>
                    <a:pt x="6871081" y="2839593"/>
                  </a:lnTo>
                  <a:lnTo>
                    <a:pt x="6864731" y="2839593"/>
                  </a:lnTo>
                  <a:lnTo>
                    <a:pt x="6871081" y="2839593"/>
                  </a:lnTo>
                  <a:cubicBezTo>
                    <a:pt x="6871081" y="2928493"/>
                    <a:pt x="6798818" y="3000502"/>
                    <a:pt x="6709791" y="3000502"/>
                  </a:cubicBezTo>
                  <a:lnTo>
                    <a:pt x="6709791" y="2994152"/>
                  </a:lnTo>
                  <a:lnTo>
                    <a:pt x="6709791" y="3000502"/>
                  </a:lnTo>
                  <a:lnTo>
                    <a:pt x="161290" y="3000502"/>
                  </a:lnTo>
                  <a:lnTo>
                    <a:pt x="161290" y="2994152"/>
                  </a:lnTo>
                  <a:lnTo>
                    <a:pt x="161290" y="3000502"/>
                  </a:lnTo>
                  <a:cubicBezTo>
                    <a:pt x="72263" y="3000502"/>
                    <a:pt x="0" y="2928493"/>
                    <a:pt x="0" y="2839593"/>
                  </a:cubicBezTo>
                  <a:lnTo>
                    <a:pt x="0" y="160909"/>
                  </a:lnTo>
                  <a:lnTo>
                    <a:pt x="6350" y="160909"/>
                  </a:lnTo>
                  <a:lnTo>
                    <a:pt x="0" y="160909"/>
                  </a:lnTo>
                  <a:moveTo>
                    <a:pt x="12700" y="160909"/>
                  </a:moveTo>
                  <a:lnTo>
                    <a:pt x="12700" y="2839593"/>
                  </a:lnTo>
                  <a:lnTo>
                    <a:pt x="6350" y="2839593"/>
                  </a:lnTo>
                  <a:lnTo>
                    <a:pt x="12700" y="2839593"/>
                  </a:lnTo>
                  <a:cubicBezTo>
                    <a:pt x="12700" y="2921508"/>
                    <a:pt x="79248" y="2987802"/>
                    <a:pt x="161290" y="2987802"/>
                  </a:cubicBezTo>
                  <a:lnTo>
                    <a:pt x="6709791" y="2987802"/>
                  </a:lnTo>
                  <a:cubicBezTo>
                    <a:pt x="6791833" y="2987802"/>
                    <a:pt x="6858381" y="2921381"/>
                    <a:pt x="6858381" y="2839593"/>
                  </a:cubicBezTo>
                  <a:lnTo>
                    <a:pt x="6858381" y="160909"/>
                  </a:lnTo>
                  <a:cubicBezTo>
                    <a:pt x="6858381" y="78994"/>
                    <a:pt x="6791833" y="12700"/>
                    <a:pt x="6709791" y="12700"/>
                  </a:cubicBezTo>
                  <a:lnTo>
                    <a:pt x="161290" y="12700"/>
                  </a:lnTo>
                  <a:lnTo>
                    <a:pt x="161290" y="6350"/>
                  </a:lnTo>
                  <a:lnTo>
                    <a:pt x="161290" y="12700"/>
                  </a:lnTo>
                  <a:cubicBezTo>
                    <a:pt x="79248" y="12700"/>
                    <a:pt x="12700" y="79121"/>
                    <a:pt x="12700" y="160909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222060" y="3000080"/>
            <a:ext cx="3703739" cy="321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Non-Maximum Suppression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22061" y="3429895"/>
            <a:ext cx="4572895" cy="125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Greedy algorithm sorts candidates by score, suppresses overlapping boxes with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IoU &gt; 0.3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retains one final bounding box per detection.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2827" y="5218214"/>
            <a:ext cx="15882347" cy="4117477"/>
            <a:chOff x="0" y="0"/>
            <a:chExt cx="21176463" cy="54899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176487" cy="5489956"/>
            </a:xfrm>
            <a:custGeom>
              <a:avLst/>
              <a:gdLst/>
              <a:ahLst/>
              <a:cxnLst/>
              <a:rect l="l" t="t" r="r" b="b"/>
              <a:pathLst>
                <a:path w="21176487" h="5489956">
                  <a:moveTo>
                    <a:pt x="0" y="160909"/>
                  </a:moveTo>
                  <a:cubicBezTo>
                    <a:pt x="0" y="72009"/>
                    <a:pt x="72136" y="0"/>
                    <a:pt x="161163" y="0"/>
                  </a:cubicBezTo>
                  <a:lnTo>
                    <a:pt x="21015325" y="0"/>
                  </a:lnTo>
                  <a:lnTo>
                    <a:pt x="21015325" y="6350"/>
                  </a:lnTo>
                  <a:lnTo>
                    <a:pt x="21015325" y="0"/>
                  </a:lnTo>
                  <a:cubicBezTo>
                    <a:pt x="21104352" y="0"/>
                    <a:pt x="21176487" y="72009"/>
                    <a:pt x="21176487" y="160909"/>
                  </a:cubicBezTo>
                  <a:lnTo>
                    <a:pt x="21170137" y="160909"/>
                  </a:lnTo>
                  <a:lnTo>
                    <a:pt x="21176487" y="160909"/>
                  </a:lnTo>
                  <a:lnTo>
                    <a:pt x="21176487" y="5329047"/>
                  </a:lnTo>
                  <a:lnTo>
                    <a:pt x="21170137" y="5329047"/>
                  </a:lnTo>
                  <a:lnTo>
                    <a:pt x="21176487" y="5329047"/>
                  </a:lnTo>
                  <a:cubicBezTo>
                    <a:pt x="21176487" y="5417947"/>
                    <a:pt x="21104352" y="5489956"/>
                    <a:pt x="21015325" y="5489956"/>
                  </a:cubicBezTo>
                  <a:lnTo>
                    <a:pt x="21015325" y="5483606"/>
                  </a:lnTo>
                  <a:lnTo>
                    <a:pt x="21015325" y="5489956"/>
                  </a:lnTo>
                  <a:lnTo>
                    <a:pt x="161163" y="5489956"/>
                  </a:lnTo>
                  <a:lnTo>
                    <a:pt x="161163" y="5483606"/>
                  </a:lnTo>
                  <a:lnTo>
                    <a:pt x="161163" y="5489956"/>
                  </a:lnTo>
                  <a:cubicBezTo>
                    <a:pt x="72136" y="5489956"/>
                    <a:pt x="0" y="5417947"/>
                    <a:pt x="0" y="5329047"/>
                  </a:cubicBezTo>
                  <a:lnTo>
                    <a:pt x="0" y="160909"/>
                  </a:lnTo>
                  <a:lnTo>
                    <a:pt x="6350" y="160909"/>
                  </a:lnTo>
                  <a:lnTo>
                    <a:pt x="0" y="160909"/>
                  </a:lnTo>
                  <a:moveTo>
                    <a:pt x="12700" y="160909"/>
                  </a:moveTo>
                  <a:lnTo>
                    <a:pt x="12700" y="5329047"/>
                  </a:lnTo>
                  <a:lnTo>
                    <a:pt x="6350" y="5329047"/>
                  </a:lnTo>
                  <a:lnTo>
                    <a:pt x="12700" y="5329047"/>
                  </a:lnTo>
                  <a:cubicBezTo>
                    <a:pt x="12700" y="5410835"/>
                    <a:pt x="79121" y="5477256"/>
                    <a:pt x="161163" y="5477256"/>
                  </a:cubicBezTo>
                  <a:lnTo>
                    <a:pt x="21015325" y="5477256"/>
                  </a:lnTo>
                  <a:cubicBezTo>
                    <a:pt x="21097367" y="5477256"/>
                    <a:pt x="21163787" y="5410835"/>
                    <a:pt x="21163787" y="5329047"/>
                  </a:cubicBezTo>
                  <a:lnTo>
                    <a:pt x="21163787" y="160909"/>
                  </a:lnTo>
                  <a:cubicBezTo>
                    <a:pt x="21163787" y="79121"/>
                    <a:pt x="21097367" y="12700"/>
                    <a:pt x="21015325" y="12700"/>
                  </a:cubicBezTo>
                  <a:lnTo>
                    <a:pt x="161163" y="12700"/>
                  </a:lnTo>
                  <a:lnTo>
                    <a:pt x="161163" y="6350"/>
                  </a:lnTo>
                  <a:lnTo>
                    <a:pt x="161163" y="12700"/>
                  </a:lnTo>
                  <a:cubicBezTo>
                    <a:pt x="79121" y="12700"/>
                    <a:pt x="12700" y="79121"/>
                    <a:pt x="12700" y="16090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17114" y="5232502"/>
            <a:ext cx="15853772" cy="681485"/>
            <a:chOff x="0" y="0"/>
            <a:chExt cx="21138363" cy="9086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138387" cy="908685"/>
            </a:xfrm>
            <a:custGeom>
              <a:avLst/>
              <a:gdLst/>
              <a:ahLst/>
              <a:cxnLst/>
              <a:rect l="l" t="t" r="r" b="b"/>
              <a:pathLst>
                <a:path w="21138387" h="908685">
                  <a:moveTo>
                    <a:pt x="0" y="0"/>
                  </a:moveTo>
                  <a:lnTo>
                    <a:pt x="21138387" y="0"/>
                  </a:lnTo>
                  <a:lnTo>
                    <a:pt x="21138387" y="908685"/>
                  </a:lnTo>
                  <a:lnTo>
                    <a:pt x="0" y="90868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493044" y="5307806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Parameter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24692" y="5307806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Value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7114" y="5913987"/>
            <a:ext cx="15853772" cy="681485"/>
            <a:chOff x="0" y="0"/>
            <a:chExt cx="21138363" cy="90864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138387" cy="908685"/>
            </a:xfrm>
            <a:custGeom>
              <a:avLst/>
              <a:gdLst/>
              <a:ahLst/>
              <a:cxnLst/>
              <a:rect l="l" t="t" r="r" b="b"/>
              <a:pathLst>
                <a:path w="21138387" h="908685">
                  <a:moveTo>
                    <a:pt x="0" y="0"/>
                  </a:moveTo>
                  <a:lnTo>
                    <a:pt x="21138387" y="0"/>
                  </a:lnTo>
                  <a:lnTo>
                    <a:pt x="21138387" y="908685"/>
                  </a:lnTo>
                  <a:lnTo>
                    <a:pt x="0" y="908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93044" y="5989291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Window size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4692" y="5989291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64×64 px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17114" y="6595472"/>
            <a:ext cx="15853772" cy="681485"/>
            <a:chOff x="0" y="0"/>
            <a:chExt cx="21138363" cy="90864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138387" cy="908685"/>
            </a:xfrm>
            <a:custGeom>
              <a:avLst/>
              <a:gdLst/>
              <a:ahLst/>
              <a:cxnLst/>
              <a:rect l="l" t="t" r="r" b="b"/>
              <a:pathLst>
                <a:path w="21138387" h="908685">
                  <a:moveTo>
                    <a:pt x="0" y="0"/>
                  </a:moveTo>
                  <a:lnTo>
                    <a:pt x="21138387" y="0"/>
                  </a:lnTo>
                  <a:lnTo>
                    <a:pt x="21138387" y="908685"/>
                  </a:lnTo>
                  <a:lnTo>
                    <a:pt x="0" y="90868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493044" y="6670777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Step size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24692" y="6670777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16 px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17114" y="7276948"/>
            <a:ext cx="15853772" cy="681485"/>
            <a:chOff x="0" y="0"/>
            <a:chExt cx="21138363" cy="90864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138387" cy="908685"/>
            </a:xfrm>
            <a:custGeom>
              <a:avLst/>
              <a:gdLst/>
              <a:ahLst/>
              <a:cxnLst/>
              <a:rect l="l" t="t" r="r" b="b"/>
              <a:pathLst>
                <a:path w="21138387" h="908685">
                  <a:moveTo>
                    <a:pt x="0" y="0"/>
                  </a:moveTo>
                  <a:lnTo>
                    <a:pt x="21138387" y="0"/>
                  </a:lnTo>
                  <a:lnTo>
                    <a:pt x="21138387" y="908685"/>
                  </a:lnTo>
                  <a:lnTo>
                    <a:pt x="0" y="908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493044" y="7352262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Scale factor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24692" y="7352262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1.25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17114" y="7958433"/>
            <a:ext cx="15853772" cy="681485"/>
            <a:chOff x="0" y="0"/>
            <a:chExt cx="21138363" cy="90864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138387" cy="908685"/>
            </a:xfrm>
            <a:custGeom>
              <a:avLst/>
              <a:gdLst/>
              <a:ahLst/>
              <a:cxnLst/>
              <a:rect l="l" t="t" r="r" b="b"/>
              <a:pathLst>
                <a:path w="21138387" h="908685">
                  <a:moveTo>
                    <a:pt x="0" y="0"/>
                  </a:moveTo>
                  <a:lnTo>
                    <a:pt x="21138387" y="0"/>
                  </a:lnTo>
                  <a:lnTo>
                    <a:pt x="21138387" y="908685"/>
                  </a:lnTo>
                  <a:lnTo>
                    <a:pt x="0" y="90868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493044" y="8033747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Confidence threshold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24692" y="8033747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0.0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217114" y="8639918"/>
            <a:ext cx="15853772" cy="681485"/>
            <a:chOff x="0" y="0"/>
            <a:chExt cx="21138363" cy="90864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138387" cy="908685"/>
            </a:xfrm>
            <a:custGeom>
              <a:avLst/>
              <a:gdLst/>
              <a:ahLst/>
              <a:cxnLst/>
              <a:rect l="l" t="t" r="r" b="b"/>
              <a:pathLst>
                <a:path w="21138387" h="908685">
                  <a:moveTo>
                    <a:pt x="0" y="0"/>
                  </a:moveTo>
                  <a:lnTo>
                    <a:pt x="21138387" y="0"/>
                  </a:lnTo>
                  <a:lnTo>
                    <a:pt x="21138387" y="908685"/>
                  </a:lnTo>
                  <a:lnTo>
                    <a:pt x="0" y="908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493044" y="8715223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NMS IoU threshold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24692" y="8715223"/>
            <a:ext cx="7370264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0.3</a:t>
            </a: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9F43BEC8-0E6B-8CA0-7B31-40EE8B4B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827616"/>
            <a:ext cx="10138024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936127"/>
            <a:ext cx="5175799" cy="68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Experimental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8" y="1679677"/>
            <a:ext cx="4888411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Classification Report (20% Test Split)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2827" y="2308469"/>
            <a:ext cx="15882347" cy="2484834"/>
            <a:chOff x="0" y="0"/>
            <a:chExt cx="21176463" cy="33131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176487" cy="3313049"/>
            </a:xfrm>
            <a:custGeom>
              <a:avLst/>
              <a:gdLst/>
              <a:ahLst/>
              <a:cxnLst/>
              <a:rect l="l" t="t" r="r" b="b"/>
              <a:pathLst>
                <a:path w="21176487" h="3313049">
                  <a:moveTo>
                    <a:pt x="0" y="151257"/>
                  </a:moveTo>
                  <a:cubicBezTo>
                    <a:pt x="0" y="67691"/>
                    <a:pt x="67945" y="0"/>
                    <a:pt x="151765" y="0"/>
                  </a:cubicBezTo>
                  <a:lnTo>
                    <a:pt x="21024723" y="0"/>
                  </a:lnTo>
                  <a:lnTo>
                    <a:pt x="21024723" y="6350"/>
                  </a:lnTo>
                  <a:lnTo>
                    <a:pt x="21024723" y="0"/>
                  </a:lnTo>
                  <a:cubicBezTo>
                    <a:pt x="21108543" y="0"/>
                    <a:pt x="21176487" y="67691"/>
                    <a:pt x="21176487" y="151257"/>
                  </a:cubicBezTo>
                  <a:lnTo>
                    <a:pt x="21170137" y="151257"/>
                  </a:lnTo>
                  <a:lnTo>
                    <a:pt x="21176487" y="151257"/>
                  </a:lnTo>
                  <a:lnTo>
                    <a:pt x="21176487" y="3161792"/>
                  </a:lnTo>
                  <a:lnTo>
                    <a:pt x="21170137" y="3161792"/>
                  </a:lnTo>
                  <a:lnTo>
                    <a:pt x="21176487" y="3161792"/>
                  </a:lnTo>
                  <a:cubicBezTo>
                    <a:pt x="21176487" y="3245358"/>
                    <a:pt x="21108543" y="3313049"/>
                    <a:pt x="21024723" y="3313049"/>
                  </a:cubicBezTo>
                  <a:lnTo>
                    <a:pt x="21024723" y="3306699"/>
                  </a:lnTo>
                  <a:lnTo>
                    <a:pt x="21024723" y="3313049"/>
                  </a:lnTo>
                  <a:lnTo>
                    <a:pt x="151765" y="3313049"/>
                  </a:lnTo>
                  <a:lnTo>
                    <a:pt x="151765" y="3306699"/>
                  </a:lnTo>
                  <a:lnTo>
                    <a:pt x="151765" y="3313049"/>
                  </a:lnTo>
                  <a:cubicBezTo>
                    <a:pt x="67945" y="3313176"/>
                    <a:pt x="0" y="3245358"/>
                    <a:pt x="0" y="3161792"/>
                  </a:cubicBezTo>
                  <a:lnTo>
                    <a:pt x="0" y="151257"/>
                  </a:lnTo>
                  <a:lnTo>
                    <a:pt x="6350" y="151257"/>
                  </a:lnTo>
                  <a:lnTo>
                    <a:pt x="0" y="151257"/>
                  </a:lnTo>
                  <a:moveTo>
                    <a:pt x="12700" y="151257"/>
                  </a:moveTo>
                  <a:lnTo>
                    <a:pt x="12700" y="3161792"/>
                  </a:lnTo>
                  <a:lnTo>
                    <a:pt x="6350" y="3161792"/>
                  </a:lnTo>
                  <a:lnTo>
                    <a:pt x="12700" y="3161792"/>
                  </a:lnTo>
                  <a:cubicBezTo>
                    <a:pt x="12700" y="3238246"/>
                    <a:pt x="74930" y="3300349"/>
                    <a:pt x="151765" y="3300349"/>
                  </a:cubicBezTo>
                  <a:lnTo>
                    <a:pt x="21024723" y="3300349"/>
                  </a:lnTo>
                  <a:cubicBezTo>
                    <a:pt x="21101558" y="3300349"/>
                    <a:pt x="21163787" y="3238246"/>
                    <a:pt x="21163787" y="3161792"/>
                  </a:cubicBezTo>
                  <a:lnTo>
                    <a:pt x="21163787" y="151257"/>
                  </a:lnTo>
                  <a:cubicBezTo>
                    <a:pt x="21163787" y="74803"/>
                    <a:pt x="21101558" y="12700"/>
                    <a:pt x="21024723" y="12700"/>
                  </a:cubicBezTo>
                  <a:lnTo>
                    <a:pt x="151765" y="12700"/>
                  </a:lnTo>
                  <a:lnTo>
                    <a:pt x="151765" y="6350"/>
                  </a:lnTo>
                  <a:lnTo>
                    <a:pt x="151765" y="12700"/>
                  </a:lnTo>
                  <a:cubicBezTo>
                    <a:pt x="74930" y="12700"/>
                    <a:pt x="12700" y="74803"/>
                    <a:pt x="12700" y="15125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17114" y="2322757"/>
            <a:ext cx="15853772" cy="614067"/>
            <a:chOff x="0" y="0"/>
            <a:chExt cx="21138363" cy="8187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76080" y="2401043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Class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44280" y="2401043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Precision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6409" y="2401043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Recall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68548" y="2401043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80677" y="2401043"/>
            <a:ext cx="2331539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Support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7114" y="2936824"/>
            <a:ext cx="15853772" cy="614067"/>
            <a:chOff x="0" y="0"/>
            <a:chExt cx="21138363" cy="8187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476080" y="3015110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Background (0)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44280" y="3015110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0.99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409" y="3015110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1.00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68548" y="3015110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0.99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80677" y="3015110"/>
            <a:ext cx="2331539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151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7114" y="3550891"/>
            <a:ext cx="15853772" cy="614067"/>
            <a:chOff x="0" y="0"/>
            <a:chExt cx="21138363" cy="8187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476080" y="3629177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Stop Sign (1)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44280" y="3629177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1.00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56409" y="3629177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0.82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68548" y="3629177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0.90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80677" y="3629177"/>
            <a:ext cx="2331539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17114" y="4164959"/>
            <a:ext cx="15853772" cy="614067"/>
            <a:chOff x="0" y="0"/>
            <a:chExt cx="21138363" cy="8187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476080" y="4243235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Overall Accuracy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44280" y="4243235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98.77%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56409" y="4243235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68548" y="4243235"/>
            <a:ext cx="248528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80677" y="4243235"/>
            <a:ext cx="2331539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07589" y="5060604"/>
            <a:ext cx="2587828" cy="34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Inference Time (CPU)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202827" y="5689397"/>
            <a:ext cx="15882347" cy="2484834"/>
            <a:chOff x="0" y="0"/>
            <a:chExt cx="21176463" cy="33131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176487" cy="3313049"/>
            </a:xfrm>
            <a:custGeom>
              <a:avLst/>
              <a:gdLst/>
              <a:ahLst/>
              <a:cxnLst/>
              <a:rect l="l" t="t" r="r" b="b"/>
              <a:pathLst>
                <a:path w="21176487" h="3313049">
                  <a:moveTo>
                    <a:pt x="0" y="151257"/>
                  </a:moveTo>
                  <a:cubicBezTo>
                    <a:pt x="0" y="67691"/>
                    <a:pt x="67945" y="0"/>
                    <a:pt x="151765" y="0"/>
                  </a:cubicBezTo>
                  <a:lnTo>
                    <a:pt x="21024723" y="0"/>
                  </a:lnTo>
                  <a:lnTo>
                    <a:pt x="21024723" y="6350"/>
                  </a:lnTo>
                  <a:lnTo>
                    <a:pt x="21024723" y="0"/>
                  </a:lnTo>
                  <a:cubicBezTo>
                    <a:pt x="21108543" y="0"/>
                    <a:pt x="21176487" y="67691"/>
                    <a:pt x="21176487" y="151257"/>
                  </a:cubicBezTo>
                  <a:lnTo>
                    <a:pt x="21170137" y="151257"/>
                  </a:lnTo>
                  <a:lnTo>
                    <a:pt x="21176487" y="151257"/>
                  </a:lnTo>
                  <a:lnTo>
                    <a:pt x="21176487" y="3161792"/>
                  </a:lnTo>
                  <a:lnTo>
                    <a:pt x="21170137" y="3161792"/>
                  </a:lnTo>
                  <a:lnTo>
                    <a:pt x="21176487" y="3161792"/>
                  </a:lnTo>
                  <a:cubicBezTo>
                    <a:pt x="21176487" y="3245358"/>
                    <a:pt x="21108543" y="3313049"/>
                    <a:pt x="21024723" y="3313049"/>
                  </a:cubicBezTo>
                  <a:lnTo>
                    <a:pt x="21024723" y="3306699"/>
                  </a:lnTo>
                  <a:lnTo>
                    <a:pt x="21024723" y="3313049"/>
                  </a:lnTo>
                  <a:lnTo>
                    <a:pt x="151765" y="3313049"/>
                  </a:lnTo>
                  <a:lnTo>
                    <a:pt x="151765" y="3306699"/>
                  </a:lnTo>
                  <a:lnTo>
                    <a:pt x="151765" y="3313049"/>
                  </a:lnTo>
                  <a:cubicBezTo>
                    <a:pt x="67945" y="3313176"/>
                    <a:pt x="0" y="3245358"/>
                    <a:pt x="0" y="3161792"/>
                  </a:cubicBezTo>
                  <a:lnTo>
                    <a:pt x="0" y="151257"/>
                  </a:lnTo>
                  <a:lnTo>
                    <a:pt x="6350" y="151257"/>
                  </a:lnTo>
                  <a:lnTo>
                    <a:pt x="0" y="151257"/>
                  </a:lnTo>
                  <a:moveTo>
                    <a:pt x="12700" y="151257"/>
                  </a:moveTo>
                  <a:lnTo>
                    <a:pt x="12700" y="3161792"/>
                  </a:lnTo>
                  <a:lnTo>
                    <a:pt x="6350" y="3161792"/>
                  </a:lnTo>
                  <a:lnTo>
                    <a:pt x="12700" y="3161792"/>
                  </a:lnTo>
                  <a:cubicBezTo>
                    <a:pt x="12700" y="3238246"/>
                    <a:pt x="74930" y="3300349"/>
                    <a:pt x="151765" y="3300349"/>
                  </a:cubicBezTo>
                  <a:lnTo>
                    <a:pt x="21024723" y="3300349"/>
                  </a:lnTo>
                  <a:cubicBezTo>
                    <a:pt x="21101558" y="3300349"/>
                    <a:pt x="21163787" y="3238246"/>
                    <a:pt x="21163787" y="3161792"/>
                  </a:cubicBezTo>
                  <a:lnTo>
                    <a:pt x="21163787" y="151257"/>
                  </a:lnTo>
                  <a:cubicBezTo>
                    <a:pt x="21163787" y="74803"/>
                    <a:pt x="21101558" y="12700"/>
                    <a:pt x="21024723" y="12700"/>
                  </a:cubicBezTo>
                  <a:lnTo>
                    <a:pt x="151765" y="12700"/>
                  </a:lnTo>
                  <a:lnTo>
                    <a:pt x="151765" y="6350"/>
                  </a:lnTo>
                  <a:lnTo>
                    <a:pt x="151765" y="12700"/>
                  </a:lnTo>
                  <a:cubicBezTo>
                    <a:pt x="74930" y="12700"/>
                    <a:pt x="12700" y="74803"/>
                    <a:pt x="12700" y="15125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17114" y="5703684"/>
            <a:ext cx="15853772" cy="614067"/>
            <a:chOff x="0" y="0"/>
            <a:chExt cx="21138363" cy="81875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475784" y="5781970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Resolution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43985" y="5781970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Windows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07423" y="5781970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Pyramid Levels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370871" y="5781970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Time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762000" y="7691231"/>
            <a:ext cx="15853772" cy="614067"/>
            <a:chOff x="0" y="0"/>
            <a:chExt cx="21138363" cy="8187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1475784" y="6396037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320×240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443985" y="6396037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~1,200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07423" y="6396037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370871" y="6396037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~2s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217114" y="6931819"/>
            <a:ext cx="15853772" cy="614067"/>
            <a:chOff x="0" y="0"/>
            <a:chExt cx="21138363" cy="81875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1475784" y="7010105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640×480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443985" y="7010105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~4,800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07423" y="7010105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370871" y="7010105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~8s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217114" y="7545886"/>
            <a:ext cx="15853772" cy="614067"/>
            <a:chOff x="0" y="0"/>
            <a:chExt cx="21138363" cy="81875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138387" cy="818769"/>
            </a:xfrm>
            <a:custGeom>
              <a:avLst/>
              <a:gdLst/>
              <a:ahLst/>
              <a:cxnLst/>
              <a:rect l="l" t="t" r="r" b="b"/>
              <a:pathLst>
                <a:path w="21138387" h="818769">
                  <a:moveTo>
                    <a:pt x="0" y="0"/>
                  </a:moveTo>
                  <a:lnTo>
                    <a:pt x="21138387" y="0"/>
                  </a:lnTo>
                  <a:lnTo>
                    <a:pt x="21138387" y="818769"/>
                  </a:lnTo>
                  <a:lnTo>
                    <a:pt x="0" y="818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1475784" y="7624172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1280×720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443985" y="7624172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~14,000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407423" y="7624172"/>
            <a:ext cx="3436591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370871" y="7624172"/>
            <a:ext cx="3441354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~25s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1207589" y="8387801"/>
            <a:ext cx="15872822" cy="924820"/>
            <a:chOff x="0" y="0"/>
            <a:chExt cx="21163763" cy="123309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163789" cy="1233043"/>
            </a:xfrm>
            <a:custGeom>
              <a:avLst/>
              <a:gdLst/>
              <a:ahLst/>
              <a:cxnLst/>
              <a:rect l="l" t="t" r="r" b="b"/>
              <a:pathLst>
                <a:path w="21163789" h="1233043">
                  <a:moveTo>
                    <a:pt x="0" y="144907"/>
                  </a:moveTo>
                  <a:cubicBezTo>
                    <a:pt x="0" y="64897"/>
                    <a:pt x="64897" y="0"/>
                    <a:pt x="144907" y="0"/>
                  </a:cubicBezTo>
                  <a:lnTo>
                    <a:pt x="21018881" y="0"/>
                  </a:lnTo>
                  <a:cubicBezTo>
                    <a:pt x="21098892" y="0"/>
                    <a:pt x="21163789" y="64897"/>
                    <a:pt x="21163789" y="144907"/>
                  </a:cubicBezTo>
                  <a:lnTo>
                    <a:pt x="21163789" y="1088136"/>
                  </a:lnTo>
                  <a:cubicBezTo>
                    <a:pt x="21163789" y="1168146"/>
                    <a:pt x="21098892" y="1233043"/>
                    <a:pt x="21018881" y="1233043"/>
                  </a:cubicBezTo>
                  <a:lnTo>
                    <a:pt x="144907" y="1233043"/>
                  </a:lnTo>
                  <a:cubicBezTo>
                    <a:pt x="64897" y="1233043"/>
                    <a:pt x="0" y="1168146"/>
                    <a:pt x="0" y="1088136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466259" y="8760914"/>
            <a:ext cx="323402" cy="258661"/>
            <a:chOff x="0" y="0"/>
            <a:chExt cx="431203" cy="344881"/>
          </a:xfrm>
        </p:grpSpPr>
        <p:sp>
          <p:nvSpPr>
            <p:cNvPr id="68" name="Freeform 68" descr="preencoded.png"/>
            <p:cNvSpPr/>
            <p:nvPr/>
          </p:nvSpPr>
          <p:spPr>
            <a:xfrm>
              <a:off x="0" y="0"/>
              <a:ext cx="431165" cy="344932"/>
            </a:xfrm>
            <a:custGeom>
              <a:avLst/>
              <a:gdLst/>
              <a:ahLst/>
              <a:cxnLst/>
              <a:rect l="l" t="t" r="r" b="b"/>
              <a:pathLst>
                <a:path w="431165" h="344932">
                  <a:moveTo>
                    <a:pt x="0" y="0"/>
                  </a:moveTo>
                  <a:lnTo>
                    <a:pt x="431165" y="0"/>
                  </a:lnTo>
                  <a:lnTo>
                    <a:pt x="431165" y="344932"/>
                  </a:lnTo>
                  <a:lnTo>
                    <a:pt x="0" y="34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9" r="-368" b="14"/>
              </a:stretch>
            </a:blipFill>
          </p:spPr>
        </p:sp>
      </p:grpSp>
      <p:sp>
        <p:nvSpPr>
          <p:cNvPr id="69" name="TextBox 69"/>
          <p:cNvSpPr txBox="1"/>
          <p:nvPr/>
        </p:nvSpPr>
        <p:spPr>
          <a:xfrm>
            <a:off x="2048323" y="8598846"/>
            <a:ext cx="14773427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Qualitative result: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1 stop sign correctly detected and localized in unseen test image after NMS.</a:t>
            </a:r>
          </a:p>
        </p:txBody>
      </p:sp>
      <p:sp>
        <p:nvSpPr>
          <p:cNvPr id="70" name="Footer Placeholder 69">
            <a:extLst>
              <a:ext uri="{FF2B5EF4-FFF2-40B4-BE49-F238E27FC236}">
                <a16:creationId xmlns:a16="http://schemas.microsoft.com/office/drawing/2014/main" id="{C20A8864-D0BF-98DD-6140-2D74F1E4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340662" y="9926531"/>
            <a:ext cx="105156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3505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17052" y="532809"/>
            <a:ext cx="7436348" cy="477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Comparison with Alternative Approaches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17052" y="1402261"/>
            <a:ext cx="8177060" cy="8177060"/>
            <a:chOff x="0" y="0"/>
            <a:chExt cx="10902747" cy="1090274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902696" cy="10902696"/>
            </a:xfrm>
            <a:custGeom>
              <a:avLst/>
              <a:gdLst/>
              <a:ahLst/>
              <a:cxnLst/>
              <a:rect l="l" t="t" r="r" b="b"/>
              <a:pathLst>
                <a:path w="10902696" h="10902696">
                  <a:moveTo>
                    <a:pt x="0" y="0"/>
                  </a:moveTo>
                  <a:lnTo>
                    <a:pt x="10902696" y="0"/>
                  </a:lnTo>
                  <a:lnTo>
                    <a:pt x="10902696" y="10902696"/>
                  </a:lnTo>
                  <a:lnTo>
                    <a:pt x="0" y="1090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17052" y="1402261"/>
            <a:ext cx="8177060" cy="8177060"/>
            <a:chOff x="0" y="0"/>
            <a:chExt cx="10902747" cy="10902747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902696" cy="10902696"/>
            </a:xfrm>
            <a:custGeom>
              <a:avLst/>
              <a:gdLst/>
              <a:ahLst/>
              <a:cxnLst/>
              <a:rect l="l" t="t" r="r" b="b"/>
              <a:pathLst>
                <a:path w="10902696" h="10902696">
                  <a:moveTo>
                    <a:pt x="0" y="0"/>
                  </a:moveTo>
                  <a:lnTo>
                    <a:pt x="10902696" y="0"/>
                  </a:lnTo>
                  <a:lnTo>
                    <a:pt x="10902696" y="10902696"/>
                  </a:lnTo>
                  <a:lnTo>
                    <a:pt x="0" y="1090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393928" y="4059065"/>
            <a:ext cx="8610600" cy="2863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Our approach is the only option requiring </a:t>
            </a:r>
            <a:r>
              <a:rPr lang="en-US" sz="32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no GPU</a:t>
            </a:r>
            <a:r>
              <a:rPr lang="en-US" sz="32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no large dataset</a:t>
            </a:r>
            <a:r>
              <a:rPr lang="en-US" sz="32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while remaining </a:t>
            </a:r>
            <a:r>
              <a:rPr lang="en-US" sz="32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fully interpretable</a:t>
            </a:r>
            <a:r>
              <a:rPr lang="en-US" sz="32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ideal for embedded/resource-constrained environments.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160E131-2705-D384-692A-81BAECE0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52400" y="9935159"/>
            <a:ext cx="102108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2827" y="1200598"/>
            <a:ext cx="506168" cy="677170"/>
            <a:chOff x="0" y="0"/>
            <a:chExt cx="674891" cy="9028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4878" cy="902843"/>
            </a:xfrm>
            <a:custGeom>
              <a:avLst/>
              <a:gdLst/>
              <a:ahLst/>
              <a:cxnLst/>
              <a:rect l="l" t="t" r="r" b="b"/>
              <a:pathLst>
                <a:path w="674878" h="902843">
                  <a:moveTo>
                    <a:pt x="0" y="161671"/>
                  </a:moveTo>
                  <a:cubicBezTo>
                    <a:pt x="0" y="72390"/>
                    <a:pt x="72009" y="0"/>
                    <a:pt x="160909" y="0"/>
                  </a:cubicBezTo>
                  <a:lnTo>
                    <a:pt x="513969" y="0"/>
                  </a:lnTo>
                  <a:lnTo>
                    <a:pt x="513969" y="6350"/>
                  </a:lnTo>
                  <a:lnTo>
                    <a:pt x="513969" y="0"/>
                  </a:lnTo>
                  <a:cubicBezTo>
                    <a:pt x="602869" y="0"/>
                    <a:pt x="674878" y="72390"/>
                    <a:pt x="674878" y="161671"/>
                  </a:cubicBezTo>
                  <a:lnTo>
                    <a:pt x="668528" y="161671"/>
                  </a:lnTo>
                  <a:lnTo>
                    <a:pt x="674878" y="161671"/>
                  </a:lnTo>
                  <a:lnTo>
                    <a:pt x="674878" y="741172"/>
                  </a:lnTo>
                  <a:lnTo>
                    <a:pt x="668528" y="741172"/>
                  </a:lnTo>
                  <a:lnTo>
                    <a:pt x="674878" y="741172"/>
                  </a:lnTo>
                  <a:cubicBezTo>
                    <a:pt x="674878" y="830453"/>
                    <a:pt x="602869" y="902843"/>
                    <a:pt x="513969" y="902843"/>
                  </a:cubicBezTo>
                  <a:lnTo>
                    <a:pt x="513969" y="896493"/>
                  </a:lnTo>
                  <a:lnTo>
                    <a:pt x="513969" y="902843"/>
                  </a:lnTo>
                  <a:lnTo>
                    <a:pt x="160909" y="902843"/>
                  </a:lnTo>
                  <a:lnTo>
                    <a:pt x="160909" y="896493"/>
                  </a:lnTo>
                  <a:lnTo>
                    <a:pt x="160909" y="902843"/>
                  </a:lnTo>
                  <a:cubicBezTo>
                    <a:pt x="72009" y="902843"/>
                    <a:pt x="0" y="830453"/>
                    <a:pt x="0" y="741172"/>
                  </a:cubicBezTo>
                  <a:lnTo>
                    <a:pt x="0" y="161671"/>
                  </a:lnTo>
                  <a:lnTo>
                    <a:pt x="6350" y="161671"/>
                  </a:lnTo>
                  <a:lnTo>
                    <a:pt x="0" y="161671"/>
                  </a:lnTo>
                  <a:moveTo>
                    <a:pt x="12700" y="161671"/>
                  </a:moveTo>
                  <a:lnTo>
                    <a:pt x="12700" y="741172"/>
                  </a:lnTo>
                  <a:lnTo>
                    <a:pt x="6350" y="741172"/>
                  </a:lnTo>
                  <a:lnTo>
                    <a:pt x="12700" y="741172"/>
                  </a:lnTo>
                  <a:cubicBezTo>
                    <a:pt x="12700" y="823468"/>
                    <a:pt x="79121" y="890143"/>
                    <a:pt x="160909" y="890143"/>
                  </a:cubicBezTo>
                  <a:lnTo>
                    <a:pt x="513969" y="890143"/>
                  </a:lnTo>
                  <a:cubicBezTo>
                    <a:pt x="595757" y="890143"/>
                    <a:pt x="662178" y="823468"/>
                    <a:pt x="662178" y="741172"/>
                  </a:cubicBezTo>
                  <a:lnTo>
                    <a:pt x="662178" y="161671"/>
                  </a:lnTo>
                  <a:cubicBezTo>
                    <a:pt x="662178" y="79375"/>
                    <a:pt x="595757" y="12700"/>
                    <a:pt x="513969" y="12700"/>
                  </a:cubicBezTo>
                  <a:lnTo>
                    <a:pt x="160909" y="12700"/>
                  </a:lnTo>
                  <a:lnTo>
                    <a:pt x="160909" y="6350"/>
                  </a:lnTo>
                  <a:lnTo>
                    <a:pt x="160909" y="12700"/>
                  </a:lnTo>
                  <a:cubicBezTo>
                    <a:pt x="79121" y="12700"/>
                    <a:pt x="12700" y="79375"/>
                    <a:pt x="12700" y="161671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07589" y="1982391"/>
            <a:ext cx="4888411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Implementation Challenges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2835773"/>
            <a:ext cx="15872822" cy="624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Annotation parsing: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CVAT stores coordinates as float strings → must use int(float(value)) not int(value)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Negative mining: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Rejection loop capped at 100 attempts per image to avoid infinite loops when stop sign fills the frame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HOG parameter consistency: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Training and inference MUST use identical HOG parameters — solved by a single shared </a:t>
            </a:r>
            <a:r>
              <a:rPr lang="en-US" sz="2687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compute_hog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 function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Pyramid boundary conditions: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Scaled image may become smaller than 64×64 — both height AND width must be checked independently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Score display: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SVM </a:t>
            </a:r>
            <a:r>
              <a:rPr lang="en-US" sz="2687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decision_function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returns raw margin distances, not calibrated probabilities — displayed as score/100 for readability only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Memory management: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~800 patches × 1764 dims ≈ 11 MB (feasible); but 1000+ images would require incremental learning with </a:t>
            </a:r>
            <a:r>
              <a:rPr lang="en-US" sz="2687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SGDClassifier.partial_fit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DC286A-DCFF-E5CE-4A46-4DD018AA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894661"/>
            <a:ext cx="99822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88690" y="948480"/>
            <a:ext cx="4678709" cy="394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Strengths &amp; Limitations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8691" y="1965427"/>
            <a:ext cx="15910617" cy="65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Strengths: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691" y="2880570"/>
            <a:ext cx="15910617" cy="262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Trains on only </a:t>
            </a: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50 images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extreme data efficiency</a:t>
            </a:r>
          </a:p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Fully interpretable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SVM weight vector visualizable as HOG image</a:t>
            </a:r>
          </a:p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Runs on </a:t>
            </a: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standard CPU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no GPU needed</a:t>
            </a:r>
          </a:p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Deterministic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consistent results across runs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691" y="5763816"/>
            <a:ext cx="15910617" cy="65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Limitations: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8691" y="6678959"/>
            <a:ext cx="15910617" cy="262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Slow inference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~8s for 640×480 on CPU (not real-time)</a:t>
            </a:r>
          </a:p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No colour information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discards the distinctive red hue of stop signs</a:t>
            </a:r>
          </a:p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Scale sensitivity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fixed scale factor may miss signs between pyramid levels</a:t>
            </a:r>
          </a:p>
          <a:p>
            <a:pPr marL="395883" lvl="1" indent="-197941" algn="l">
              <a:lnSpc>
                <a:spcPts val="4187"/>
              </a:lnSpc>
              <a:buFont typeface="Arial"/>
              <a:buChar char="•"/>
            </a:pPr>
            <a:r>
              <a:rPr lang="en-US" sz="26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Occlusion sensitivity</a:t>
            </a:r>
            <a:r>
              <a:rPr lang="en-US" sz="26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heavy occlusion significantly degrades HOG descriptors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75F33D-0276-DDEC-3F78-8643D699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882534"/>
            <a:ext cx="100584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2933252"/>
            <a:ext cx="3450431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959123"/>
            <a:ext cx="15872822" cy="336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Hard negative mining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iteratively add false positives from unannotated images to the training set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Colour pre-filtering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HSV red-channel thresholding to reduce sliding window search space by ~90%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Integral HOG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precompute cumulative histograms for O(1) window evaluation → enables real-time inference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Data augmentation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random rotations (±15°), flips, brightness jitter, Gaussian noise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Transfer learning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— CNN backbone (e.g., ResNet-50) features + linear SVM for deeper representations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4A00F-8503-305B-2504-46D3D861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921875"/>
            <a:ext cx="102108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2597048"/>
            <a:ext cx="3450431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622919"/>
            <a:ext cx="15872822" cy="403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Delivered a complete,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end-to-end classical CV pipeline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for stop sign detection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HOG + LinearSVM achieved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98.77% accuracy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on only 50 training images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Successfully localised stop signs in unseen test images using image pyramid + NMS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Documented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6 real implementation challenges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with concrete solutions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Pipeline is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modular, reproducible, CPU-only, and fully interpretable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Serves as a strong baseline and pedagogical reference against deep learning detectors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E2594-CF7A-A977-BCB9-1C2E1629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52400" y="9921875"/>
            <a:ext cx="102870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8,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Md Tanveer Hossain Nihal </a:t>
            </a:r>
            <a:r>
              <a:rPr lang="en-US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2211935042, Chandrima Saha 2212561042, Wafa Alam 2211707042, Lamia Amin Tisha 2231198642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28599" y="-127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-457199" y="4034133"/>
            <a:ext cx="18745200" cy="801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53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1441</Words>
  <Application>Microsoft Office PowerPoint</Application>
  <PresentationFormat>Custom</PresentationFormat>
  <Paragraphs>209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Arimo Bold</vt:lpstr>
      <vt:lpstr>Calibri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Lamia Amin Tisha</dc:creator>
  <cp:lastModifiedBy>Lamia Tisha</cp:lastModifiedBy>
  <cp:revision>4</cp:revision>
  <dcterms:created xsi:type="dcterms:W3CDTF">2006-08-16T00:00:00Z</dcterms:created>
  <dcterms:modified xsi:type="dcterms:W3CDTF">2026-04-29T10:25:44Z</dcterms:modified>
  <dc:identifier>DAHIKG0HoL0</dc:identifier>
</cp:coreProperties>
</file>